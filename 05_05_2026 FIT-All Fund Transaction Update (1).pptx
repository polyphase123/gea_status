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7" r:id="rId2"/>
    <p:sldId id="256" r:id="rId3"/>
    <p:sldId id="640" r:id="rId4"/>
    <p:sldId id="641" r:id="rId5"/>
    <p:sldId id="644" r:id="rId6"/>
    <p:sldId id="262" r:id="rId7"/>
    <p:sldId id="652" r:id="rId8"/>
    <p:sldId id="643" r:id="rId9"/>
    <p:sldId id="266" r:id="rId10"/>
    <p:sldId id="635" r:id="rId11"/>
    <p:sldId id="649" r:id="rId12"/>
    <p:sldId id="651" r:id="rId13"/>
    <p:sldId id="650" r:id="rId14"/>
    <p:sldId id="259" r:id="rId15"/>
    <p:sldId id="268" r:id="rId16"/>
    <p:sldId id="634" r:id="rId17"/>
    <p:sldId id="645" r:id="rId18"/>
    <p:sldId id="648" r:id="rId1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84B4401-5FE3-0AB7-8BBB-F0748858BB9A}" name="AURIGUE, SHELYMAR" initials="SA" userId="S::SFAURIGUE@transco.ph::f81dff7f-f2fb-4c83-a429-f5e20e787ede" providerId="AD"/>
  <p188:author id="{139FC60D-05D0-49C6-20F7-5C01288BDBEB}" name="RANARA, JAYSON" initials="JR" userId="S::joranara@transco.ph::408917b0-d0a1-41b8-947e-abd6bd02780e" providerId="AD"/>
  <p188:author id="{44231322-BC98-A667-8865-1F0CEF4D6F79}" name="BERNABE, EUNICE" initials="BE" userId="S::efbernabe@transco.ph::1a7f4575-02e7-419d-a735-1e2f0b080ca7" providerId="AD"/>
  <p188:author id="{F34EE076-668E-7296-723A-ACFF38DAFFC5}" name="CANLAS, MARICEL" initials="CM" userId="S::mdcanlas@transco.ph::7f329f10-7d2b-4ba8-af3b-c567105dbfb3" providerId="AD"/>
  <p188:author id="{6184658F-D53B-0910-4F6D-B0555290369A}" name="CANLAS, MARICEL" initials="MDC" userId="CANLAS, MARICEL" providerId="None"/>
  <p188:author id="{96CB62A6-8572-63B0-B6E7-263346D04201}" name="RONQUILLO, ROGELYN" initials="RR" userId="S::rtronquillo@transco.ph::e22f7935-5008-45e5-b07d-286bf30ce9b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F731C-4C63-FCEC-C218-0210E1BD1367}" v="5" dt="2026-05-07T08:02:58.4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ef0daabe-3726-4759-9568-1ea9b7acb74a::" providerId="AD" clId="Web-{409F731C-4C63-FCEC-C218-0210E1BD1367}"/>
    <pc:docChg chg="modSld">
      <pc:chgData name="Guest User" userId="S::urn:spo:tenantanon#ef0daabe-3726-4759-9568-1ea9b7acb74a::" providerId="AD" clId="Web-{409F731C-4C63-FCEC-C218-0210E1BD1367}" dt="2026-05-07T08:02:58.454" v="3"/>
      <pc:docMkLst>
        <pc:docMk/>
      </pc:docMkLst>
      <pc:sldChg chg="addSp delSp modSp">
        <pc:chgData name="Guest User" userId="S::urn:spo:tenantanon#ef0daabe-3726-4759-9568-1ea9b7acb74a::" providerId="AD" clId="Web-{409F731C-4C63-FCEC-C218-0210E1BD1367}" dt="2026-05-07T08:02:58.454" v="3"/>
        <pc:sldMkLst>
          <pc:docMk/>
          <pc:sldMk cId="3294713535" sldId="644"/>
        </pc:sldMkLst>
        <pc:picChg chg="add del mod">
          <ac:chgData name="Guest User" userId="S::urn:spo:tenantanon#ef0daabe-3726-4759-9568-1ea9b7acb74a::" providerId="AD" clId="Web-{409F731C-4C63-FCEC-C218-0210E1BD1367}" dt="2026-05-07T08:02:56.970" v="2"/>
          <ac:picMkLst>
            <pc:docMk/>
            <pc:sldMk cId="3294713535" sldId="644"/>
            <ac:picMk id="2" creationId="{38B6A4C2-EE9A-2558-D322-4A8189CF13DE}"/>
          </ac:picMkLst>
        </pc:picChg>
        <pc:picChg chg="add del">
          <ac:chgData name="Guest User" userId="S::urn:spo:tenantanon#ef0daabe-3726-4759-9568-1ea9b7acb74a::" providerId="AD" clId="Web-{409F731C-4C63-FCEC-C218-0210E1BD1367}" dt="2026-05-07T08:02:58.454" v="3"/>
          <ac:picMkLst>
            <pc:docMk/>
            <pc:sldMk cId="3294713535" sldId="644"/>
            <ac:picMk id="10" creationId="{55FDA9B1-D6CD-B52B-FF8B-AC3CC25627D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PH"/>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F3733E7D-F9C7-4555-B36F-C3B2C8415FC1}" type="datetimeFigureOut">
              <a:rPr lang="en-PH" smtClean="0"/>
              <a:t>07/05/2026</a:t>
            </a:fld>
            <a:endParaRPr lang="en-PH"/>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PH"/>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PH"/>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3C4BD577-8844-46A0-A74A-A8E1DE3B35AD}" type="slidenum">
              <a:rPr lang="en-PH" smtClean="0"/>
              <a:t>‹#›</a:t>
            </a:fld>
            <a:endParaRPr lang="en-PH"/>
          </a:p>
        </p:txBody>
      </p:sp>
    </p:spTree>
    <p:extLst>
      <p:ext uri="{BB962C8B-B14F-4D97-AF65-F5344CB8AC3E}">
        <p14:creationId xmlns:p14="http://schemas.microsoft.com/office/powerpoint/2010/main" val="1178869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3C4BD577-8844-46A0-A74A-A8E1DE3B35AD}" type="slidenum">
              <a:rPr lang="en-PH" smtClean="0"/>
              <a:t>8</a:t>
            </a:fld>
            <a:endParaRPr lang="en-PH"/>
          </a:p>
        </p:txBody>
      </p:sp>
    </p:spTree>
    <p:extLst>
      <p:ext uri="{BB962C8B-B14F-4D97-AF65-F5344CB8AC3E}">
        <p14:creationId xmlns:p14="http://schemas.microsoft.com/office/powerpoint/2010/main" val="8052535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748A7135-98AD-54EC-2C2E-41D9C3B53B5B}"/>
              </a:ext>
            </a:extLst>
          </p:cNvPr>
          <p:cNvSpPr>
            <a:spLocks noGrp="1"/>
          </p:cNvSpPr>
          <p:nvPr>
            <p:ph type="title"/>
          </p:nvPr>
        </p:nvSpPr>
        <p:spPr>
          <a:xfrm>
            <a:off x="464975" y="2445494"/>
            <a:ext cx="9070911"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4" name="Text Placeholder 2">
            <a:extLst>
              <a:ext uri="{FF2B5EF4-FFF2-40B4-BE49-F238E27FC236}">
                <a16:creationId xmlns:a16="http://schemas.microsoft.com/office/drawing/2014/main" id="{8B333FCE-73D8-E207-51BE-6EDD98861262}"/>
              </a:ext>
            </a:extLst>
          </p:cNvPr>
          <p:cNvSpPr>
            <a:spLocks noGrp="1"/>
          </p:cNvSpPr>
          <p:nvPr>
            <p:ph idx="1"/>
          </p:nvPr>
        </p:nvSpPr>
        <p:spPr>
          <a:xfrm>
            <a:off x="464974" y="3849184"/>
            <a:ext cx="9070911" cy="656318"/>
          </a:xfrm>
          <a:prstGeom prst="rect">
            <a:avLst/>
          </a:prstGeom>
        </p:spPr>
        <p:txBody>
          <a:bodyPr vert="horz" lIns="91440" tIns="45720" rIns="91440" bIns="45720" rtlCol="0">
            <a:normAutofit/>
          </a:bodyPr>
          <a:lstStyle/>
          <a:p>
            <a:pPr lvl="0"/>
            <a:r>
              <a:rPr lang="en-US"/>
              <a:t>Click to edit Master text styles</a:t>
            </a:r>
          </a:p>
        </p:txBody>
      </p:sp>
    </p:spTree>
    <p:extLst>
      <p:ext uri="{BB962C8B-B14F-4D97-AF65-F5344CB8AC3E}">
        <p14:creationId xmlns:p14="http://schemas.microsoft.com/office/powerpoint/2010/main" val="1269949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2C6C5-0DEF-E025-4BB3-DC045F282238}"/>
              </a:ext>
            </a:extLst>
          </p:cNvPr>
          <p:cNvSpPr>
            <a:spLocks noGrp="1"/>
          </p:cNvSpPr>
          <p:nvPr>
            <p:ph type="ctrTitle" hasCustomPrompt="1"/>
          </p:nvPr>
        </p:nvSpPr>
        <p:spPr>
          <a:xfrm>
            <a:off x="329682" y="403907"/>
            <a:ext cx="10008636" cy="585138"/>
          </a:xfrm>
        </p:spPr>
        <p:txBody>
          <a:bodyPr anchor="ctr">
            <a:normAutofit/>
          </a:bodyPr>
          <a:lstStyle>
            <a:lvl1pPr algn="l">
              <a:defRPr sz="3200" b="1">
                <a:solidFill>
                  <a:schemeClr val="accent1">
                    <a:lumMod val="50000"/>
                  </a:schemeClr>
                </a:solidFill>
                <a:latin typeface="Montserrat Black" panose="00000A00000000000000" pitchFamily="50" charset="0"/>
              </a:defRPr>
            </a:lvl1pPr>
          </a:lstStyle>
          <a:p>
            <a:r>
              <a:rPr lang="en-US"/>
              <a:t>Click to edit title</a:t>
            </a:r>
            <a:endParaRPr lang="en-PH"/>
          </a:p>
        </p:txBody>
      </p:sp>
      <p:sp>
        <p:nvSpPr>
          <p:cNvPr id="3" name="Subtitle 2">
            <a:extLst>
              <a:ext uri="{FF2B5EF4-FFF2-40B4-BE49-F238E27FC236}">
                <a16:creationId xmlns:a16="http://schemas.microsoft.com/office/drawing/2014/main" id="{43E7EF29-6B59-6514-98F4-1CD6613C20D6}"/>
              </a:ext>
            </a:extLst>
          </p:cNvPr>
          <p:cNvSpPr>
            <a:spLocks noGrp="1"/>
          </p:cNvSpPr>
          <p:nvPr>
            <p:ph type="subTitle" idx="1" hasCustomPrompt="1"/>
          </p:nvPr>
        </p:nvSpPr>
        <p:spPr>
          <a:xfrm>
            <a:off x="329682" y="1120095"/>
            <a:ext cx="10008636" cy="1655762"/>
          </a:xfrm>
        </p:spPr>
        <p:txBody>
          <a:bodyPr/>
          <a:lstStyle>
            <a:lvl1pPr marL="0" indent="0" algn="ctr">
              <a:buNone/>
              <a:defRPr sz="2400">
                <a:solidFill>
                  <a:schemeClr val="accent1">
                    <a:lumMod val="50000"/>
                  </a:schemeClr>
                </a:solidFill>
                <a:latin typeface="Montserrat Medium" panose="000006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sub-text</a:t>
            </a:r>
            <a:endParaRPr lang="en-PH"/>
          </a:p>
        </p:txBody>
      </p:sp>
      <p:sp>
        <p:nvSpPr>
          <p:cNvPr id="6" name="Slide Number Placeholder 5">
            <a:extLst>
              <a:ext uri="{FF2B5EF4-FFF2-40B4-BE49-F238E27FC236}">
                <a16:creationId xmlns:a16="http://schemas.microsoft.com/office/drawing/2014/main" id="{63A13029-AB64-843E-1C71-0E98092F644C}"/>
              </a:ext>
            </a:extLst>
          </p:cNvPr>
          <p:cNvSpPr>
            <a:spLocks noGrp="1"/>
          </p:cNvSpPr>
          <p:nvPr>
            <p:ph type="sldNum" sz="quarter" idx="12"/>
          </p:nvPr>
        </p:nvSpPr>
        <p:spPr>
          <a:xfrm>
            <a:off x="11206063" y="6358553"/>
            <a:ext cx="847531" cy="365125"/>
          </a:xfrm>
          <a:prstGeom prst="rect">
            <a:avLst/>
          </a:prstGeom>
        </p:spPr>
        <p:txBody>
          <a:bodyPr/>
          <a:lstStyle>
            <a:lvl1pPr algn="ctr">
              <a:defRPr>
                <a:solidFill>
                  <a:schemeClr val="accent1">
                    <a:lumMod val="50000"/>
                  </a:schemeClr>
                </a:solidFill>
              </a:defRPr>
            </a:lvl1pPr>
          </a:lstStyle>
          <a:p>
            <a:fld id="{D0B6DC87-EF1D-40C8-99B8-AF972C1219A9}" type="slidenum">
              <a:rPr lang="en-PH" smtClean="0"/>
              <a:t>‹#›</a:t>
            </a:fld>
            <a:endParaRPr lang="en-PH"/>
          </a:p>
        </p:txBody>
      </p:sp>
    </p:spTree>
    <p:extLst>
      <p:ext uri="{BB962C8B-B14F-4D97-AF65-F5344CB8AC3E}">
        <p14:creationId xmlns:p14="http://schemas.microsoft.com/office/powerpoint/2010/main" val="739227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DE012-80D1-9411-C49B-07273CF2470F}"/>
              </a:ext>
            </a:extLst>
          </p:cNvPr>
          <p:cNvSpPr>
            <a:spLocks noGrp="1"/>
          </p:cNvSpPr>
          <p:nvPr>
            <p:ph type="title" hasCustomPrompt="1"/>
          </p:nvPr>
        </p:nvSpPr>
        <p:spPr>
          <a:xfrm>
            <a:off x="550117" y="215479"/>
            <a:ext cx="11091766" cy="656318"/>
          </a:xfrm>
        </p:spPr>
        <p:txBody>
          <a:bodyPr/>
          <a:lstStyle>
            <a:lvl1pPr algn="l">
              <a:defRPr>
                <a:solidFill>
                  <a:schemeClr val="accent1">
                    <a:lumMod val="50000"/>
                  </a:schemeClr>
                </a:solidFill>
                <a:latin typeface="Montserrat Black" panose="00000A00000000000000" pitchFamily="50" charset="0"/>
              </a:defRPr>
            </a:lvl1pPr>
          </a:lstStyle>
          <a:p>
            <a:r>
              <a:rPr lang="en-US"/>
              <a:t>Click to edit title</a:t>
            </a:r>
            <a:endParaRPr lang="en-PH"/>
          </a:p>
        </p:txBody>
      </p:sp>
      <p:sp>
        <p:nvSpPr>
          <p:cNvPr id="3" name="Content Placeholder 2">
            <a:extLst>
              <a:ext uri="{FF2B5EF4-FFF2-40B4-BE49-F238E27FC236}">
                <a16:creationId xmlns:a16="http://schemas.microsoft.com/office/drawing/2014/main" id="{F5750973-DC84-358E-B6F7-403E8024A0C8}"/>
              </a:ext>
            </a:extLst>
          </p:cNvPr>
          <p:cNvSpPr>
            <a:spLocks noGrp="1"/>
          </p:cNvSpPr>
          <p:nvPr>
            <p:ph idx="1" hasCustomPrompt="1"/>
          </p:nvPr>
        </p:nvSpPr>
        <p:spPr>
          <a:xfrm>
            <a:off x="550117" y="979714"/>
            <a:ext cx="11091766" cy="5533053"/>
          </a:xfrm>
        </p:spPr>
        <p:txBody>
          <a:bodyPr/>
          <a:lstStyle>
            <a:lvl1pPr>
              <a:defRPr/>
            </a:lvl1pPr>
          </a:lstStyle>
          <a:p>
            <a:pPr lvl="0"/>
            <a:r>
              <a:rPr lang="en-US"/>
              <a:t>Click to edit text </a:t>
            </a:r>
          </a:p>
          <a:p>
            <a:pPr lvl="1"/>
            <a:r>
              <a:rPr lang="en-US"/>
              <a:t>Second level</a:t>
            </a:r>
          </a:p>
          <a:p>
            <a:pPr lvl="2"/>
            <a:r>
              <a:rPr lang="en-US"/>
              <a:t>Third level</a:t>
            </a:r>
          </a:p>
          <a:p>
            <a:pPr lvl="3"/>
            <a:r>
              <a:rPr lang="en-US"/>
              <a:t>Fourth level</a:t>
            </a:r>
          </a:p>
          <a:p>
            <a:pPr lvl="4"/>
            <a:r>
              <a:rPr lang="en-US"/>
              <a:t>Fifth level</a:t>
            </a:r>
            <a:endParaRPr lang="en-PH"/>
          </a:p>
        </p:txBody>
      </p:sp>
      <p:sp>
        <p:nvSpPr>
          <p:cNvPr id="6" name="Slide Number Placeholder 5">
            <a:extLst>
              <a:ext uri="{FF2B5EF4-FFF2-40B4-BE49-F238E27FC236}">
                <a16:creationId xmlns:a16="http://schemas.microsoft.com/office/drawing/2014/main" id="{0256A993-D3D3-4538-A4F9-26F6BA6AA8EF}"/>
              </a:ext>
            </a:extLst>
          </p:cNvPr>
          <p:cNvSpPr>
            <a:spLocks noGrp="1"/>
          </p:cNvSpPr>
          <p:nvPr>
            <p:ph type="sldNum" sz="quarter" idx="12"/>
          </p:nvPr>
        </p:nvSpPr>
        <p:spPr>
          <a:xfrm>
            <a:off x="57150" y="6409256"/>
            <a:ext cx="492967" cy="365125"/>
          </a:xfrm>
          <a:prstGeom prst="rect">
            <a:avLst/>
          </a:prstGeom>
        </p:spPr>
        <p:txBody>
          <a:bodyPr/>
          <a:lstStyle>
            <a:lvl1pPr>
              <a:defRPr>
                <a:solidFill>
                  <a:schemeClr val="bg1"/>
                </a:solidFill>
              </a:defRPr>
            </a:lvl1pPr>
          </a:lstStyle>
          <a:p>
            <a:fld id="{D0B6DC87-EF1D-40C8-99B8-AF972C1219A9}" type="slidenum">
              <a:rPr lang="en-PH" smtClean="0"/>
              <a:t>‹#›</a:t>
            </a:fld>
            <a:endParaRPr lang="en-PH"/>
          </a:p>
        </p:txBody>
      </p:sp>
    </p:spTree>
    <p:extLst>
      <p:ext uri="{BB962C8B-B14F-4D97-AF65-F5344CB8AC3E}">
        <p14:creationId xmlns:p14="http://schemas.microsoft.com/office/powerpoint/2010/main" val="2423064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C482E-8ADB-8E46-33F1-956D433CC64B}"/>
              </a:ext>
            </a:extLst>
          </p:cNvPr>
          <p:cNvSpPr>
            <a:spLocks noGrp="1"/>
          </p:cNvSpPr>
          <p:nvPr>
            <p:ph type="title" hasCustomPrompt="1"/>
          </p:nvPr>
        </p:nvSpPr>
        <p:spPr>
          <a:xfrm>
            <a:off x="831850" y="3668128"/>
            <a:ext cx="7500387" cy="755780"/>
          </a:xfrm>
        </p:spPr>
        <p:txBody>
          <a:bodyPr anchor="t">
            <a:normAutofit/>
          </a:bodyPr>
          <a:lstStyle>
            <a:lvl1pPr>
              <a:defRPr sz="4800"/>
            </a:lvl1pPr>
          </a:lstStyle>
          <a:p>
            <a:r>
              <a:rPr lang="en-US"/>
              <a:t>Click to edit text</a:t>
            </a:r>
            <a:endParaRPr lang="en-PH"/>
          </a:p>
        </p:txBody>
      </p:sp>
      <p:sp>
        <p:nvSpPr>
          <p:cNvPr id="3" name="Text Placeholder 2">
            <a:extLst>
              <a:ext uri="{FF2B5EF4-FFF2-40B4-BE49-F238E27FC236}">
                <a16:creationId xmlns:a16="http://schemas.microsoft.com/office/drawing/2014/main" id="{50AE743F-119A-AC56-C935-DBE15715C610}"/>
              </a:ext>
            </a:extLst>
          </p:cNvPr>
          <p:cNvSpPr>
            <a:spLocks noGrp="1"/>
          </p:cNvSpPr>
          <p:nvPr>
            <p:ph type="body" idx="1" hasCustomPrompt="1"/>
          </p:nvPr>
        </p:nvSpPr>
        <p:spPr>
          <a:xfrm>
            <a:off x="831850" y="4589463"/>
            <a:ext cx="7500387" cy="868945"/>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text</a:t>
            </a:r>
          </a:p>
        </p:txBody>
      </p:sp>
    </p:spTree>
    <p:extLst>
      <p:ext uri="{BB962C8B-B14F-4D97-AF65-F5344CB8AC3E}">
        <p14:creationId xmlns:p14="http://schemas.microsoft.com/office/powerpoint/2010/main" val="32615320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24607B-9393-97DF-DD5C-A3696F8FD15F}"/>
              </a:ext>
            </a:extLst>
          </p:cNvPr>
          <p:cNvSpPr>
            <a:spLocks noGrp="1"/>
          </p:cNvSpPr>
          <p:nvPr>
            <p:ph type="title"/>
          </p:nvPr>
        </p:nvSpPr>
        <p:spPr>
          <a:xfrm>
            <a:off x="1426028" y="3335386"/>
            <a:ext cx="9070911" cy="1325563"/>
          </a:xfrm>
          <a:prstGeom prst="rect">
            <a:avLst/>
          </a:prstGeom>
        </p:spPr>
        <p:txBody>
          <a:bodyPr vert="horz" lIns="91440" tIns="45720" rIns="91440" bIns="45720" rtlCol="0" anchor="ctr">
            <a:normAutofit/>
          </a:bodyPr>
          <a:lstStyle/>
          <a:p>
            <a:r>
              <a:rPr lang="en-US"/>
              <a:t>Click to edit title</a:t>
            </a:r>
            <a:endParaRPr lang="en-PH"/>
          </a:p>
        </p:txBody>
      </p:sp>
      <p:sp>
        <p:nvSpPr>
          <p:cNvPr id="3" name="Text Placeholder 2">
            <a:extLst>
              <a:ext uri="{FF2B5EF4-FFF2-40B4-BE49-F238E27FC236}">
                <a16:creationId xmlns:a16="http://schemas.microsoft.com/office/drawing/2014/main" id="{033DFAC6-3676-0CB8-6A51-0AAD4055005B}"/>
              </a:ext>
            </a:extLst>
          </p:cNvPr>
          <p:cNvSpPr>
            <a:spLocks noGrp="1"/>
          </p:cNvSpPr>
          <p:nvPr>
            <p:ph type="body" idx="1"/>
          </p:nvPr>
        </p:nvSpPr>
        <p:spPr>
          <a:xfrm>
            <a:off x="1426027" y="4810238"/>
            <a:ext cx="9070911" cy="656318"/>
          </a:xfrm>
          <a:prstGeom prst="rect">
            <a:avLst/>
          </a:prstGeom>
        </p:spPr>
        <p:txBody>
          <a:bodyPr vert="horz" lIns="91440" tIns="45720" rIns="91440" bIns="45720" rtlCol="0">
            <a:normAutofit/>
          </a:bodyPr>
          <a:lstStyle/>
          <a:p>
            <a:pPr lvl="0"/>
            <a:r>
              <a:rPr lang="en-US"/>
              <a:t>Click to edit sub-text</a:t>
            </a:r>
          </a:p>
        </p:txBody>
      </p:sp>
    </p:spTree>
    <p:extLst>
      <p:ext uri="{BB962C8B-B14F-4D97-AF65-F5344CB8AC3E}">
        <p14:creationId xmlns:p14="http://schemas.microsoft.com/office/powerpoint/2010/main" val="40667145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bg1"/>
          </a:solidFill>
          <a:latin typeface="Montserrat Black" panose="00000A00000000000000" pitchFamily="50"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1"/>
          </a:solidFill>
          <a:latin typeface="Montserrat Medium" panose="000006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package" Target="../embeddings/Microsoft_Excel_Worksheet.xlsx"/><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package" Target="../embeddings/Microsoft_Excel_Worksheet1.xlsx"/></Relationships>
</file>

<file path=ppt/slides/_rels/slide1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package" Target="../embeddings/Microsoft_Excel_Worksheet2.xlsx"/><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package" Target="../embeddings/Microsoft_Excel_Worksheet3.xlsx"/></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FC683FA-76F7-8F8F-2480-3E7F695CA70D}"/>
              </a:ext>
            </a:extLst>
          </p:cNvPr>
          <p:cNvSpPr txBox="1">
            <a:spLocks/>
          </p:cNvSpPr>
          <p:nvPr/>
        </p:nvSpPr>
        <p:spPr>
          <a:xfrm>
            <a:off x="1590578" y="1914195"/>
            <a:ext cx="7679546" cy="2209800"/>
          </a:xfrm>
          <a:prstGeom prst="rect">
            <a:avLst/>
          </a:prstGeom>
          <a:effectLst>
            <a:outerShdw blurRad="50800" dist="38100" dir="2700000" algn="tl" rotWithShape="0">
              <a:prstClr val="black">
                <a:alpha val="40000"/>
              </a:prstClr>
            </a:outerShdw>
          </a:effectLst>
        </p:spPr>
        <p:txBody>
          <a:bodyPr vert="horz" lIns="91440" tIns="45720" rIns="91440" bIns="45720" rtlCol="0" anchor="ctr">
            <a:normAutofit/>
          </a:bodyPr>
          <a:lstStyle>
            <a:lvl1pPr algn="r" defTabSz="914400" rtl="0" eaLnBrk="1" latinLnBrk="0" hangingPunct="1">
              <a:spcBef>
                <a:spcPct val="0"/>
              </a:spcBef>
              <a:buNone/>
              <a:defRPr sz="3600" kern="1200">
                <a:solidFill>
                  <a:schemeClr val="bg1"/>
                </a:solidFill>
                <a:latin typeface="+mj-lt"/>
                <a:ea typeface="+mj-ea"/>
                <a:cs typeface="+mj-cs"/>
              </a:defRPr>
            </a:lvl1pPr>
          </a:lstStyle>
          <a:p>
            <a:pPr algn="ctr"/>
            <a:r>
              <a:rPr lang="en-US" sz="4400" b="1">
                <a:latin typeface="Montserrat ExtraBold" panose="00000900000000000000" pitchFamily="2" charset="0"/>
              </a:rPr>
              <a:t>Updates on the Feed-in Tariff Allowance (FIT-All) </a:t>
            </a:r>
          </a:p>
        </p:txBody>
      </p:sp>
    </p:spTree>
    <p:extLst>
      <p:ext uri="{BB962C8B-B14F-4D97-AF65-F5344CB8AC3E}">
        <p14:creationId xmlns:p14="http://schemas.microsoft.com/office/powerpoint/2010/main" val="3718341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EFC7-4B1D-234A-3E65-28F605B28740}"/>
              </a:ext>
            </a:extLst>
          </p:cNvPr>
          <p:cNvSpPr>
            <a:spLocks noGrp="1"/>
          </p:cNvSpPr>
          <p:nvPr>
            <p:ph type="ctrTitle"/>
          </p:nvPr>
        </p:nvSpPr>
        <p:spPr/>
        <p:txBody>
          <a:bodyPr/>
          <a:lstStyle/>
          <a:p>
            <a:pPr algn="ctr"/>
            <a:r>
              <a:rPr lang="en-US" sz="3200" b="1"/>
              <a:t>RE PLANTS UNDER THE FIT</a:t>
            </a:r>
            <a:endParaRPr lang="en-PH"/>
          </a:p>
        </p:txBody>
      </p:sp>
      <p:sp>
        <p:nvSpPr>
          <p:cNvPr id="5" name="Content Placeholder 3">
            <a:extLst>
              <a:ext uri="{FF2B5EF4-FFF2-40B4-BE49-F238E27FC236}">
                <a16:creationId xmlns:a16="http://schemas.microsoft.com/office/drawing/2014/main" id="{47242DB6-4D4E-DD4C-3D87-19A682F5BF2E}"/>
              </a:ext>
            </a:extLst>
          </p:cNvPr>
          <p:cNvSpPr txBox="1">
            <a:spLocks/>
          </p:cNvSpPr>
          <p:nvPr/>
        </p:nvSpPr>
        <p:spPr>
          <a:xfrm>
            <a:off x="655512" y="1257797"/>
            <a:ext cx="8399408" cy="350525"/>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accent1">
                    <a:lumMod val="50000"/>
                  </a:schemeClr>
                </a:solidFill>
                <a:latin typeface="Montserrat Medium" panose="00000600000000000000" pitchFamily="50"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H" sz="1800" b="1" i="1">
                <a:solidFill>
                  <a:schemeClr val="tx1"/>
                </a:solidFill>
                <a:latin typeface="Montserrat Medium"/>
              </a:rPr>
              <a:t>As of May 5, 2026</a:t>
            </a:r>
          </a:p>
        </p:txBody>
      </p:sp>
      <p:pic>
        <p:nvPicPr>
          <p:cNvPr id="3" name="Picture 2" descr="A screen shot of a number&#10;&#10;AI-generated content may be incorrect.">
            <a:extLst>
              <a:ext uri="{FF2B5EF4-FFF2-40B4-BE49-F238E27FC236}">
                <a16:creationId xmlns:a16="http://schemas.microsoft.com/office/drawing/2014/main" id="{4B7E4351-82EC-C828-FB19-C4D555E9C872}"/>
              </a:ext>
            </a:extLst>
          </p:cNvPr>
          <p:cNvPicPr>
            <a:picLocks noChangeAspect="1"/>
          </p:cNvPicPr>
          <p:nvPr/>
        </p:nvPicPr>
        <p:blipFill>
          <a:blip r:embed="rId2"/>
          <a:stretch>
            <a:fillRect/>
          </a:stretch>
        </p:blipFill>
        <p:spPr>
          <a:xfrm>
            <a:off x="2248773" y="1971146"/>
            <a:ext cx="7793864" cy="2634722"/>
          </a:xfrm>
          <a:prstGeom prst="rect">
            <a:avLst/>
          </a:prstGeom>
        </p:spPr>
      </p:pic>
    </p:spTree>
    <p:extLst>
      <p:ext uri="{BB962C8B-B14F-4D97-AF65-F5344CB8AC3E}">
        <p14:creationId xmlns:p14="http://schemas.microsoft.com/office/powerpoint/2010/main" val="3623130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3EB3A4E-6077-76D2-8151-115FABF831A8}"/>
              </a:ext>
            </a:extLst>
          </p:cNvPr>
          <p:cNvSpPr txBox="1"/>
          <p:nvPr/>
        </p:nvSpPr>
        <p:spPr>
          <a:xfrm>
            <a:off x="2546757" y="5831325"/>
            <a:ext cx="7964011"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PH" sz="1400" b="0" i="1" u="none" strike="noStrike" kern="1200" cap="none" spc="0" normalizeH="0" baseline="0" noProof="0">
                <a:ln>
                  <a:noFill/>
                </a:ln>
                <a:solidFill>
                  <a:prstClr val="black"/>
                </a:solidFill>
                <a:effectLst/>
                <a:uLnTx/>
                <a:uFillTx/>
                <a:latin typeface="Calibri"/>
                <a:ea typeface="+mn-ea"/>
                <a:cs typeface="+mn-cs"/>
              </a:rPr>
              <a:t>Note:  The spike of payment in 2018 is due to the </a:t>
            </a:r>
            <a:r>
              <a:rPr lang="en-PH" sz="1400" i="1">
                <a:solidFill>
                  <a:prstClr val="black"/>
                </a:solidFill>
                <a:latin typeface="Calibri"/>
              </a:rPr>
              <a:t>payment of interest charges for the delayed payment of FIT Revenues caused by insufficiency of fund.</a:t>
            </a:r>
            <a:endParaRPr kumimoji="0" lang="en-PH" sz="1400" b="0" i="1" u="none" strike="noStrike" kern="1200" cap="none" spc="0" normalizeH="0" baseline="0" noProof="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C3AFC42A-D27D-064F-F64D-D8458109C1F5}"/>
              </a:ext>
            </a:extLst>
          </p:cNvPr>
          <p:cNvSpPr txBox="1"/>
          <p:nvPr/>
        </p:nvSpPr>
        <p:spPr>
          <a:xfrm>
            <a:off x="1258212" y="1020461"/>
            <a:ext cx="4609634" cy="584775"/>
          </a:xfrm>
          <a:prstGeom prst="rect">
            <a:avLst/>
          </a:prstGeom>
          <a:solidFill>
            <a:srgbClr val="FFFF00"/>
          </a:solidFill>
          <a:ln>
            <a:solidFill>
              <a:schemeClr val="tx1"/>
            </a:solidFill>
          </a:ln>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PH" sz="1600" b="1" i="0" u="none" strike="noStrike" kern="1200" cap="none" spc="0" normalizeH="0" baseline="0" noProof="0" dirty="0">
                <a:ln>
                  <a:noFill/>
                </a:ln>
                <a:solidFill>
                  <a:prstClr val="black"/>
                </a:solidFill>
                <a:effectLst/>
                <a:uLnTx/>
                <a:uFillTx/>
                <a:latin typeface="Calibri" panose="020F0502020204030204" pitchFamily="34" charset="0"/>
              </a:rPr>
              <a:t>PAYMENTS MADE = </a:t>
            </a:r>
            <a:r>
              <a:rPr kumimoji="0" lang="en-PH" sz="1600" b="1" i="0" u="none" kern="1200" cap="none" spc="0" normalizeH="0" baseline="0" noProof="0" dirty="0">
                <a:ln>
                  <a:noFill/>
                </a:ln>
                <a:solidFill>
                  <a:prstClr val="black"/>
                </a:solidFill>
                <a:effectLst/>
                <a:uLnTx/>
                <a:uFillTx/>
                <a:latin typeface="Calibri" panose="020F0502020204030204" pitchFamily="34" charset="0"/>
              </a:rPr>
              <a:t>PhP237,393.50Mn, </a:t>
            </a:r>
            <a:r>
              <a:rPr lang="en-PH" sz="1600" b="1" dirty="0">
                <a:solidFill>
                  <a:prstClr val="black"/>
                </a:solidFill>
                <a:latin typeface="Calibri" panose="020F0502020204030204" pitchFamily="34" charset="0"/>
              </a:rPr>
              <a:t>97.96</a:t>
            </a:r>
            <a:r>
              <a:rPr kumimoji="0" lang="en-PH" sz="1600" b="1" i="0" u="none" kern="1200" cap="none" spc="0" normalizeH="0" baseline="0" noProof="0" dirty="0">
                <a:ln>
                  <a:noFill/>
                </a:ln>
                <a:solidFill>
                  <a:prstClr val="black"/>
                </a:solidFill>
                <a:effectLst/>
                <a:uLnTx/>
                <a:uFillTx/>
                <a:latin typeface="Calibri" panose="020F0502020204030204" pitchFamily="34" charset="0"/>
              </a:rPr>
              <a:t>%</a:t>
            </a:r>
            <a:endParaRPr lang="en-PH" sz="1600" b="1" dirty="0">
              <a:solidFill>
                <a:prstClr val="black"/>
              </a:solidFill>
              <a:latin typeface="Calibri" panose="020F050202020403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PH" sz="1600" b="1" i="0" u="none" kern="1200" cap="none" spc="0" normalizeH="0" baseline="0" noProof="0" dirty="0">
                <a:ln>
                  <a:noFill/>
                </a:ln>
                <a:solidFill>
                  <a:prstClr val="black"/>
                </a:solidFill>
                <a:effectLst/>
                <a:uLnTx/>
                <a:uFillTx/>
                <a:latin typeface="Calibri" panose="020F0502020204030204" pitchFamily="34" charset="0"/>
              </a:rPr>
              <a:t>OUTSTANDING PAYABLE </a:t>
            </a:r>
            <a:r>
              <a:rPr lang="en-PH" sz="1600" b="1" dirty="0">
                <a:solidFill>
                  <a:prstClr val="black"/>
                </a:solidFill>
                <a:latin typeface="Calibri" panose="020F0502020204030204" pitchFamily="34" charset="0"/>
              </a:rPr>
              <a:t>= PhP4,955.58Mn, 2.04%</a:t>
            </a:r>
            <a:endParaRPr kumimoji="0" lang="en-PH" sz="1200" b="1" i="0" u="none" kern="1200" cap="none" spc="0" normalizeH="0" baseline="0" noProof="0" dirty="0">
              <a:ln>
                <a:noFill/>
              </a:ln>
              <a:solidFill>
                <a:prstClr val="black"/>
              </a:solidFill>
              <a:effectLst/>
              <a:uLnTx/>
              <a:uFillTx/>
              <a:latin typeface="Calibri" panose="020F0502020204030204" pitchFamily="34" charset="0"/>
            </a:endParaRPr>
          </a:p>
        </p:txBody>
      </p:sp>
      <p:sp>
        <p:nvSpPr>
          <p:cNvPr id="14" name="Title 1">
            <a:extLst>
              <a:ext uri="{FF2B5EF4-FFF2-40B4-BE49-F238E27FC236}">
                <a16:creationId xmlns:a16="http://schemas.microsoft.com/office/drawing/2014/main" id="{1BAC7986-9366-69B9-50AB-C48624D8A3AD}"/>
              </a:ext>
            </a:extLst>
          </p:cNvPr>
          <p:cNvSpPr>
            <a:spLocks noGrp="1"/>
          </p:cNvSpPr>
          <p:nvPr>
            <p:ph type="title"/>
          </p:nvPr>
        </p:nvSpPr>
        <p:spPr>
          <a:xfrm>
            <a:off x="1002222" y="216126"/>
            <a:ext cx="9670073" cy="762000"/>
          </a:xfrm>
        </p:spPr>
        <p:txBody>
          <a:bodyPr>
            <a:normAutofit fontScale="90000"/>
          </a:bodyPr>
          <a:lstStyle/>
          <a:p>
            <a:pPr algn="ctr"/>
            <a:r>
              <a:rPr lang="en-PH" sz="3000" b="1" dirty="0"/>
              <a:t>PAYMENT TO RE DEVELOPERS</a:t>
            </a:r>
            <a:br>
              <a:rPr lang="en-PH" b="1" dirty="0"/>
            </a:br>
            <a:r>
              <a:rPr lang="en-PH" sz="2200" b="1" dirty="0"/>
              <a:t>After May 5</a:t>
            </a:r>
            <a:r>
              <a:rPr lang="en-PH" sz="2200" dirty="0"/>
              <a:t>, 2026 </a:t>
            </a:r>
            <a:r>
              <a:rPr lang="en-PH" sz="2200" b="1" dirty="0"/>
              <a:t>Payment Date</a:t>
            </a:r>
          </a:p>
        </p:txBody>
      </p:sp>
      <p:sp>
        <p:nvSpPr>
          <p:cNvPr id="7" name="TextBox 4">
            <a:extLst>
              <a:ext uri="{FF2B5EF4-FFF2-40B4-BE49-F238E27FC236}">
                <a16:creationId xmlns:a16="http://schemas.microsoft.com/office/drawing/2014/main" id="{BE725883-4E60-0857-3829-E7076070F413}"/>
              </a:ext>
            </a:extLst>
          </p:cNvPr>
          <p:cNvSpPr txBox="1"/>
          <p:nvPr/>
        </p:nvSpPr>
        <p:spPr>
          <a:xfrm>
            <a:off x="10613527" y="3114475"/>
            <a:ext cx="865477" cy="587800"/>
          </a:xfrm>
          <a:prstGeom prst="rect">
            <a:avLst/>
          </a:prstGeom>
          <a:solidFill>
            <a:schemeClr val="lt1">
              <a:alpha val="0"/>
            </a:schemeClr>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100" b="1"/>
              <a:t>Payment,</a:t>
            </a:r>
          </a:p>
          <a:p>
            <a:r>
              <a:rPr lang="en-US" sz="1100" b="1"/>
              <a:t>In Mn </a:t>
            </a:r>
            <a:r>
              <a:rPr lang="en-US" sz="1100" b="1" err="1"/>
              <a:t>PhP</a:t>
            </a:r>
            <a:endParaRPr lang="en-US" sz="1100" b="1"/>
          </a:p>
        </p:txBody>
      </p:sp>
      <p:sp>
        <p:nvSpPr>
          <p:cNvPr id="9" name="TextBox 3">
            <a:extLst>
              <a:ext uri="{FF2B5EF4-FFF2-40B4-BE49-F238E27FC236}">
                <a16:creationId xmlns:a16="http://schemas.microsoft.com/office/drawing/2014/main" id="{EB4D737F-0751-F49A-0085-0A78DAE3125E}"/>
              </a:ext>
            </a:extLst>
          </p:cNvPr>
          <p:cNvSpPr txBox="1"/>
          <p:nvPr/>
        </p:nvSpPr>
        <p:spPr>
          <a:xfrm>
            <a:off x="1681231" y="3060608"/>
            <a:ext cx="759214" cy="731866"/>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100" b="1"/>
              <a:t>Installed</a:t>
            </a:r>
          </a:p>
          <a:p>
            <a:r>
              <a:rPr lang="en-US" sz="1100" b="1" baseline="0"/>
              <a:t>Capacity,</a:t>
            </a:r>
          </a:p>
          <a:p>
            <a:r>
              <a:rPr lang="en-US" sz="1100" b="1" baseline="0"/>
              <a:t>In </a:t>
            </a:r>
            <a:r>
              <a:rPr lang="en-US" sz="1100" b="1"/>
              <a:t>MW</a:t>
            </a:r>
          </a:p>
        </p:txBody>
      </p:sp>
      <p:pic>
        <p:nvPicPr>
          <p:cNvPr id="5" name="Picture 4">
            <a:extLst>
              <a:ext uri="{FF2B5EF4-FFF2-40B4-BE49-F238E27FC236}">
                <a16:creationId xmlns:a16="http://schemas.microsoft.com/office/drawing/2014/main" id="{C418DA58-DCAB-4CC1-DF70-FF47F653CAAE}"/>
              </a:ext>
            </a:extLst>
          </p:cNvPr>
          <p:cNvPicPr>
            <a:picLocks noChangeAspect="1"/>
          </p:cNvPicPr>
          <p:nvPr/>
        </p:nvPicPr>
        <p:blipFill>
          <a:blip r:embed="rId2"/>
          <a:stretch>
            <a:fillRect/>
          </a:stretch>
        </p:blipFill>
        <p:spPr>
          <a:xfrm>
            <a:off x="2440445" y="1774909"/>
            <a:ext cx="7887801" cy="3886742"/>
          </a:xfrm>
          <a:prstGeom prst="rect">
            <a:avLst/>
          </a:prstGeom>
        </p:spPr>
      </p:pic>
    </p:spTree>
    <p:extLst>
      <p:ext uri="{BB962C8B-B14F-4D97-AF65-F5344CB8AC3E}">
        <p14:creationId xmlns:p14="http://schemas.microsoft.com/office/powerpoint/2010/main" val="872943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B87763F-FC14-C0AE-78DD-231CDF64F30F}"/>
              </a:ext>
            </a:extLst>
          </p:cNvPr>
          <p:cNvSpPr txBox="1">
            <a:spLocks/>
          </p:cNvSpPr>
          <p:nvPr/>
        </p:nvSpPr>
        <p:spPr>
          <a:xfrm>
            <a:off x="2462498" y="359788"/>
            <a:ext cx="6781800" cy="7620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3200" b="1" kern="1200">
                <a:solidFill>
                  <a:schemeClr val="accent1">
                    <a:lumMod val="50000"/>
                  </a:schemeClr>
                </a:solidFill>
                <a:latin typeface="Montserrat Black" panose="00000A00000000000000" pitchFamily="50" charset="0"/>
                <a:ea typeface="+mj-ea"/>
                <a:cs typeface="+mj-cs"/>
              </a:defRPr>
            </a:lvl1pPr>
          </a:lstStyle>
          <a:p>
            <a:pPr algn="ctr"/>
            <a:r>
              <a:rPr lang="en-PH" sz="2800" dirty="0"/>
              <a:t>PAYMENT TO RE DEVELOPERS</a:t>
            </a:r>
            <a:br>
              <a:rPr lang="en-PH" dirty="0"/>
            </a:br>
            <a:r>
              <a:rPr lang="en-PH" sz="2100" dirty="0"/>
              <a:t>After May 5, 2026 Payment Date</a:t>
            </a:r>
          </a:p>
        </p:txBody>
      </p:sp>
      <p:sp>
        <p:nvSpPr>
          <p:cNvPr id="15" name="TextBox 14">
            <a:extLst>
              <a:ext uri="{FF2B5EF4-FFF2-40B4-BE49-F238E27FC236}">
                <a16:creationId xmlns:a16="http://schemas.microsoft.com/office/drawing/2014/main" id="{03493841-8EB7-3E49-8262-C7A166BEB92A}"/>
              </a:ext>
            </a:extLst>
          </p:cNvPr>
          <p:cNvSpPr txBox="1"/>
          <p:nvPr/>
        </p:nvSpPr>
        <p:spPr>
          <a:xfrm>
            <a:off x="1655700" y="5928871"/>
            <a:ext cx="7987833"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PH" sz="1400" b="0" i="1" u="none" strike="noStrike" kern="1200" cap="none" spc="0" normalizeH="0" baseline="0" noProof="0">
                <a:ln>
                  <a:noFill/>
                </a:ln>
                <a:solidFill>
                  <a:prstClr val="black"/>
                </a:solidFill>
                <a:effectLst/>
                <a:uLnTx/>
                <a:uFillTx/>
                <a:latin typeface="Calibri"/>
                <a:ea typeface="+mn-ea"/>
                <a:cs typeface="+mn-cs"/>
              </a:rPr>
              <a:t>Note:  The spike of payment in 2018 is due to the </a:t>
            </a:r>
            <a:r>
              <a:rPr lang="en-PH" sz="1400" i="1">
                <a:solidFill>
                  <a:prstClr val="black"/>
                </a:solidFill>
                <a:latin typeface="Calibri"/>
              </a:rPr>
              <a:t>payment of interest charges for the delayed payment of FIT Revenues caused by insufficiency of fund.</a:t>
            </a:r>
            <a:endParaRPr kumimoji="0" lang="en-PH" sz="1400" b="0" i="1" u="none" strike="noStrike" kern="1200" cap="none" spc="0" normalizeH="0" baseline="0" noProof="0">
              <a:ln>
                <a:noFill/>
              </a:ln>
              <a:solidFill>
                <a:prstClr val="black"/>
              </a:solidFill>
              <a:effectLst/>
              <a:uLnTx/>
              <a:uFillTx/>
              <a:latin typeface="Calibri"/>
              <a:ea typeface="+mn-ea"/>
              <a:cs typeface="+mn-cs"/>
            </a:endParaRPr>
          </a:p>
        </p:txBody>
      </p:sp>
      <p:sp>
        <p:nvSpPr>
          <p:cNvPr id="6" name="TextBox 3">
            <a:extLst>
              <a:ext uri="{FF2B5EF4-FFF2-40B4-BE49-F238E27FC236}">
                <a16:creationId xmlns:a16="http://schemas.microsoft.com/office/drawing/2014/main" id="{5BFDDECD-CA48-0A45-021B-1598050E5E8E}"/>
              </a:ext>
            </a:extLst>
          </p:cNvPr>
          <p:cNvSpPr txBox="1"/>
          <p:nvPr/>
        </p:nvSpPr>
        <p:spPr>
          <a:xfrm>
            <a:off x="1585190" y="3302473"/>
            <a:ext cx="748526" cy="641915"/>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100" b="1" i="0" baseline="0">
                <a:solidFill>
                  <a:schemeClr val="dk1"/>
                </a:solidFill>
                <a:effectLst/>
                <a:latin typeface="+mn-lt"/>
                <a:ea typeface="+mn-ea"/>
                <a:cs typeface="+mn-cs"/>
              </a:rPr>
              <a:t>Energy Billed, In MWh</a:t>
            </a:r>
            <a:endParaRPr lang="en-PH">
              <a:effectLst/>
            </a:endParaRPr>
          </a:p>
          <a:p>
            <a:endParaRPr lang="en-US" sz="1100" b="1"/>
          </a:p>
        </p:txBody>
      </p:sp>
      <p:sp>
        <p:nvSpPr>
          <p:cNvPr id="5" name="TextBox 4">
            <a:extLst>
              <a:ext uri="{FF2B5EF4-FFF2-40B4-BE49-F238E27FC236}">
                <a16:creationId xmlns:a16="http://schemas.microsoft.com/office/drawing/2014/main" id="{0285C051-27B7-F79C-ABCB-77D615617F83}"/>
              </a:ext>
            </a:extLst>
          </p:cNvPr>
          <p:cNvSpPr txBox="1"/>
          <p:nvPr/>
        </p:nvSpPr>
        <p:spPr>
          <a:xfrm>
            <a:off x="1412111" y="1160540"/>
            <a:ext cx="4609634" cy="584775"/>
          </a:xfrm>
          <a:prstGeom prst="rect">
            <a:avLst/>
          </a:prstGeom>
          <a:solidFill>
            <a:srgbClr val="FFFF00"/>
          </a:solidFill>
          <a:ln>
            <a:solidFill>
              <a:schemeClr val="tx1"/>
            </a:solidFill>
          </a:ln>
        </p:spPr>
        <p:txBody>
          <a:bodyPr wrap="square" rtlCol="0">
            <a:spAutoFit/>
          </a:bodyPr>
          <a:lstStyle/>
          <a:p>
            <a:pPr lvl="0">
              <a:defRPr/>
            </a:pPr>
            <a:r>
              <a:rPr lang="en-PH" sz="1600" b="1" dirty="0">
                <a:solidFill>
                  <a:prstClr val="black"/>
                </a:solidFill>
                <a:latin typeface="Calibri" panose="020F0502020204030204" pitchFamily="34" charset="0"/>
              </a:rPr>
              <a:t>PAYMENTS MADE = PhP237,393.50Mn, 97.96%</a:t>
            </a:r>
          </a:p>
          <a:p>
            <a:pPr lvl="0">
              <a:defRPr/>
            </a:pPr>
            <a:r>
              <a:rPr lang="en-PH" sz="1600" b="1" dirty="0">
                <a:solidFill>
                  <a:prstClr val="black"/>
                </a:solidFill>
                <a:latin typeface="Calibri" panose="020F0502020204030204" pitchFamily="34" charset="0"/>
              </a:rPr>
              <a:t>OUTSTANDING PAYABLE = PhP4,955.58Mn, 2.04%</a:t>
            </a:r>
            <a:endParaRPr lang="en-PH" sz="1200" b="1" dirty="0">
              <a:solidFill>
                <a:prstClr val="black"/>
              </a:solidFill>
              <a:latin typeface="Calibri" panose="020F0502020204030204" pitchFamily="34" charset="0"/>
            </a:endParaRPr>
          </a:p>
        </p:txBody>
      </p:sp>
      <p:sp>
        <p:nvSpPr>
          <p:cNvPr id="7" name="TextBox 4">
            <a:extLst>
              <a:ext uri="{FF2B5EF4-FFF2-40B4-BE49-F238E27FC236}">
                <a16:creationId xmlns:a16="http://schemas.microsoft.com/office/drawing/2014/main" id="{2D4C602D-0CDE-5A5D-073E-8917AF68F6D2}"/>
              </a:ext>
            </a:extLst>
          </p:cNvPr>
          <p:cNvSpPr txBox="1"/>
          <p:nvPr/>
        </p:nvSpPr>
        <p:spPr>
          <a:xfrm>
            <a:off x="11021670" y="3191734"/>
            <a:ext cx="869520" cy="474532"/>
          </a:xfrm>
          <a:prstGeom prst="rect">
            <a:avLst/>
          </a:prstGeom>
          <a:solidFill>
            <a:schemeClr val="lt1">
              <a:alpha val="0"/>
            </a:schemeClr>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rtl="0" eaLnBrk="1" fontAlgn="auto" latinLnBrk="0" hangingPunct="1"/>
            <a:endParaRPr lang="en-US" b="1"/>
          </a:p>
          <a:p>
            <a:pPr algn="l" rtl="0" eaLnBrk="1" fontAlgn="auto" latinLnBrk="0" hangingPunct="1"/>
            <a:endParaRPr lang="en-US" sz="1100" b="1" i="0" baseline="0">
              <a:solidFill>
                <a:schemeClr val="dk1"/>
              </a:solidFill>
              <a:effectLst/>
              <a:latin typeface="+mn-lt"/>
              <a:ea typeface="+mn-ea"/>
              <a:cs typeface="+mn-cs"/>
            </a:endParaRPr>
          </a:p>
        </p:txBody>
      </p:sp>
      <p:pic>
        <p:nvPicPr>
          <p:cNvPr id="4" name="Picture 3">
            <a:extLst>
              <a:ext uri="{FF2B5EF4-FFF2-40B4-BE49-F238E27FC236}">
                <a16:creationId xmlns:a16="http://schemas.microsoft.com/office/drawing/2014/main" id="{563AC327-A2A2-7BE7-0645-58B61A43A641}"/>
              </a:ext>
            </a:extLst>
          </p:cNvPr>
          <p:cNvPicPr>
            <a:picLocks noChangeAspect="1"/>
          </p:cNvPicPr>
          <p:nvPr/>
        </p:nvPicPr>
        <p:blipFill>
          <a:blip r:embed="rId2"/>
          <a:stretch>
            <a:fillRect/>
          </a:stretch>
        </p:blipFill>
        <p:spPr>
          <a:xfrm>
            <a:off x="1655700" y="1865143"/>
            <a:ext cx="8554644" cy="3943900"/>
          </a:xfrm>
          <a:prstGeom prst="rect">
            <a:avLst/>
          </a:prstGeom>
        </p:spPr>
      </p:pic>
    </p:spTree>
    <p:extLst>
      <p:ext uri="{BB962C8B-B14F-4D97-AF65-F5344CB8AC3E}">
        <p14:creationId xmlns:p14="http://schemas.microsoft.com/office/powerpoint/2010/main" val="3998500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8468C42-76AF-A9D4-3DA5-D3E58E53A0D8}"/>
              </a:ext>
            </a:extLst>
          </p:cNvPr>
          <p:cNvSpPr>
            <a:spLocks noGrp="1"/>
          </p:cNvSpPr>
          <p:nvPr>
            <p:ph type="title"/>
          </p:nvPr>
        </p:nvSpPr>
        <p:spPr>
          <a:xfrm>
            <a:off x="1518834" y="184688"/>
            <a:ext cx="9408763" cy="762000"/>
          </a:xfrm>
        </p:spPr>
        <p:txBody>
          <a:bodyPr>
            <a:normAutofit/>
          </a:bodyPr>
          <a:lstStyle/>
          <a:p>
            <a:pPr algn="ctr"/>
            <a:r>
              <a:rPr lang="en-PH" sz="2800" b="1" dirty="0"/>
              <a:t>BILLED GENERATION, GWh</a:t>
            </a:r>
            <a:br>
              <a:rPr lang="en-PH" b="1" dirty="0"/>
            </a:br>
            <a:r>
              <a:rPr lang="en-PH" sz="2000" dirty="0"/>
              <a:t>After </a:t>
            </a:r>
            <a:r>
              <a:rPr lang="en-PH" sz="2000" b="1" dirty="0"/>
              <a:t>May 5</a:t>
            </a:r>
            <a:r>
              <a:rPr lang="en-PH" sz="2000" dirty="0"/>
              <a:t>, 2026 Payment Date</a:t>
            </a:r>
          </a:p>
        </p:txBody>
      </p:sp>
      <p:grpSp>
        <p:nvGrpSpPr>
          <p:cNvPr id="15" name="Group 14">
            <a:extLst>
              <a:ext uri="{FF2B5EF4-FFF2-40B4-BE49-F238E27FC236}">
                <a16:creationId xmlns:a16="http://schemas.microsoft.com/office/drawing/2014/main" id="{DC45F7D5-D7C8-526E-2EC3-5DE908610E6D}"/>
              </a:ext>
            </a:extLst>
          </p:cNvPr>
          <p:cNvGrpSpPr/>
          <p:nvPr/>
        </p:nvGrpSpPr>
        <p:grpSpPr>
          <a:xfrm>
            <a:off x="4145797" y="2494849"/>
            <a:ext cx="4353625" cy="2688200"/>
            <a:chOff x="2417413" y="2169473"/>
            <a:chExt cx="4353625" cy="2688200"/>
          </a:xfrm>
        </p:grpSpPr>
        <p:sp>
          <p:nvSpPr>
            <p:cNvPr id="16" name="TextBox 1">
              <a:extLst>
                <a:ext uri="{FF2B5EF4-FFF2-40B4-BE49-F238E27FC236}">
                  <a16:creationId xmlns:a16="http://schemas.microsoft.com/office/drawing/2014/main" id="{D20D9F30-80DC-481F-B954-5FFCEB80355D}"/>
                </a:ext>
              </a:extLst>
            </p:cNvPr>
            <p:cNvSpPr txBox="1"/>
            <p:nvPr/>
          </p:nvSpPr>
          <p:spPr>
            <a:xfrm>
              <a:off x="2417413" y="3426189"/>
              <a:ext cx="2145341" cy="284377"/>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800" b="1">
                  <a:solidFill>
                    <a:schemeClr val="bg1"/>
                  </a:solidFill>
                </a:rPr>
                <a:t>Biomass, 25.29%</a:t>
              </a:r>
            </a:p>
            <a:p>
              <a:pPr algn="ctr"/>
              <a:r>
                <a:rPr lang="en-US" sz="1800" b="1">
                  <a:solidFill>
                    <a:schemeClr val="bg1"/>
                  </a:solidFill>
                </a:rPr>
                <a:t>6,009.05 GWh</a:t>
              </a:r>
              <a:endParaRPr lang="en-US" sz="1200" b="1">
                <a:solidFill>
                  <a:schemeClr val="bg1"/>
                </a:solidFill>
              </a:endParaRPr>
            </a:p>
          </p:txBody>
        </p:sp>
        <p:sp>
          <p:nvSpPr>
            <p:cNvPr id="17" name="TextBox 1">
              <a:extLst>
                <a:ext uri="{FF2B5EF4-FFF2-40B4-BE49-F238E27FC236}">
                  <a16:creationId xmlns:a16="http://schemas.microsoft.com/office/drawing/2014/main" id="{D6299CEE-36C5-42B7-5551-6F859273F150}"/>
                </a:ext>
              </a:extLst>
            </p:cNvPr>
            <p:cNvSpPr txBox="1"/>
            <p:nvPr/>
          </p:nvSpPr>
          <p:spPr>
            <a:xfrm>
              <a:off x="3276599" y="4573296"/>
              <a:ext cx="2145341" cy="284377"/>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800" b="1">
                  <a:solidFill>
                    <a:schemeClr val="bg1"/>
                  </a:solidFill>
                </a:rPr>
                <a:t>Solar, 21.65%</a:t>
              </a:r>
            </a:p>
            <a:p>
              <a:r>
                <a:rPr lang="en-US" sz="1800" b="1">
                  <a:solidFill>
                    <a:schemeClr val="bg1"/>
                  </a:solidFill>
                </a:rPr>
                <a:t>        5,223.71 GWh</a:t>
              </a:r>
              <a:endParaRPr lang="en-US" sz="1200" b="1">
                <a:solidFill>
                  <a:schemeClr val="bg1"/>
                </a:solidFill>
              </a:endParaRPr>
            </a:p>
          </p:txBody>
        </p:sp>
        <p:sp>
          <p:nvSpPr>
            <p:cNvPr id="18" name="TextBox 1">
              <a:extLst>
                <a:ext uri="{FF2B5EF4-FFF2-40B4-BE49-F238E27FC236}">
                  <a16:creationId xmlns:a16="http://schemas.microsoft.com/office/drawing/2014/main" id="{46D68DEB-C881-1945-068D-4CA08B8D9F2A}"/>
                </a:ext>
              </a:extLst>
            </p:cNvPr>
            <p:cNvSpPr txBox="1"/>
            <p:nvPr/>
          </p:nvSpPr>
          <p:spPr>
            <a:xfrm>
              <a:off x="3549850" y="2169473"/>
              <a:ext cx="2145341" cy="284378"/>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800" b="1">
                  <a:solidFill>
                    <a:schemeClr val="bg1"/>
                  </a:solidFill>
                </a:rPr>
                <a:t>Hydro, 16.61%</a:t>
              </a:r>
            </a:p>
            <a:p>
              <a:pPr algn="ctr"/>
              <a:r>
                <a:rPr lang="en-US" sz="1800" b="1">
                  <a:solidFill>
                    <a:schemeClr val="bg1"/>
                  </a:solidFill>
                </a:rPr>
                <a:t>4,005.94 GWh</a:t>
              </a:r>
              <a:endParaRPr lang="en-US" sz="1200" b="1">
                <a:solidFill>
                  <a:schemeClr val="bg1"/>
                </a:solidFill>
              </a:endParaRPr>
            </a:p>
          </p:txBody>
        </p:sp>
        <p:sp>
          <p:nvSpPr>
            <p:cNvPr id="19" name="TextBox 1">
              <a:extLst>
                <a:ext uri="{FF2B5EF4-FFF2-40B4-BE49-F238E27FC236}">
                  <a16:creationId xmlns:a16="http://schemas.microsoft.com/office/drawing/2014/main" id="{7D3733CD-740E-FD39-664C-93F778CBAA24}"/>
                </a:ext>
              </a:extLst>
            </p:cNvPr>
            <p:cNvSpPr txBox="1"/>
            <p:nvPr/>
          </p:nvSpPr>
          <p:spPr>
            <a:xfrm>
              <a:off x="4625697" y="3201081"/>
              <a:ext cx="2145341" cy="62498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800" b="1">
                  <a:solidFill>
                    <a:schemeClr val="bg1"/>
                  </a:solidFill>
                </a:rPr>
                <a:t>Wind, 36.45%</a:t>
              </a:r>
            </a:p>
            <a:p>
              <a:r>
                <a:rPr lang="en-US" sz="1800" b="1">
                  <a:solidFill>
                    <a:schemeClr val="bg1"/>
                  </a:solidFill>
                </a:rPr>
                <a:t>        8,791.89GWh</a:t>
              </a:r>
              <a:endParaRPr lang="en-US" sz="1200" b="1">
                <a:solidFill>
                  <a:schemeClr val="bg1"/>
                </a:solidFill>
              </a:endParaRPr>
            </a:p>
          </p:txBody>
        </p:sp>
      </p:grpSp>
      <p:sp>
        <p:nvSpPr>
          <p:cNvPr id="11" name="TextBox 10">
            <a:extLst>
              <a:ext uri="{FF2B5EF4-FFF2-40B4-BE49-F238E27FC236}">
                <a16:creationId xmlns:a16="http://schemas.microsoft.com/office/drawing/2014/main" id="{B2F563E4-9C3E-13D3-3945-8E2066E87233}"/>
              </a:ext>
            </a:extLst>
          </p:cNvPr>
          <p:cNvSpPr txBox="1"/>
          <p:nvPr/>
        </p:nvSpPr>
        <p:spPr>
          <a:xfrm>
            <a:off x="5347607" y="326571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0" name="Picture 9">
            <a:extLst>
              <a:ext uri="{FF2B5EF4-FFF2-40B4-BE49-F238E27FC236}">
                <a16:creationId xmlns:a16="http://schemas.microsoft.com/office/drawing/2014/main" id="{55FDA9B1-D6CD-B52B-FF8B-AC3CC25627DC}"/>
              </a:ext>
            </a:extLst>
          </p:cNvPr>
          <p:cNvPicPr>
            <a:picLocks noChangeAspect="1"/>
          </p:cNvPicPr>
          <p:nvPr/>
        </p:nvPicPr>
        <p:blipFill>
          <a:blip r:embed="rId2"/>
          <a:stretch>
            <a:fillRect/>
          </a:stretch>
        </p:blipFill>
        <p:spPr>
          <a:xfrm>
            <a:off x="2137810" y="1393063"/>
            <a:ext cx="7916380" cy="3886742"/>
          </a:xfrm>
          <a:prstGeom prst="rect">
            <a:avLst/>
          </a:prstGeom>
        </p:spPr>
      </p:pic>
    </p:spTree>
    <p:extLst>
      <p:ext uri="{BB962C8B-B14F-4D97-AF65-F5344CB8AC3E}">
        <p14:creationId xmlns:p14="http://schemas.microsoft.com/office/powerpoint/2010/main" val="3294713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white sheet with numbers and black text&#10;&#10;AI-generated content may be incorrect.">
            <a:extLst>
              <a:ext uri="{FF2B5EF4-FFF2-40B4-BE49-F238E27FC236}">
                <a16:creationId xmlns:a16="http://schemas.microsoft.com/office/drawing/2014/main" id="{733D10B3-68B6-239C-79BE-7821E4A71DB8}"/>
              </a:ext>
            </a:extLst>
          </p:cNvPr>
          <p:cNvPicPr>
            <a:picLocks noChangeAspect="1"/>
          </p:cNvPicPr>
          <p:nvPr/>
        </p:nvPicPr>
        <p:blipFill>
          <a:blip r:embed="rId2"/>
          <a:stretch>
            <a:fillRect/>
          </a:stretch>
        </p:blipFill>
        <p:spPr>
          <a:xfrm>
            <a:off x="909638" y="1714500"/>
            <a:ext cx="9477375" cy="2495550"/>
          </a:xfrm>
          <a:prstGeom prst="rect">
            <a:avLst/>
          </a:prstGeom>
        </p:spPr>
      </p:pic>
      <p:sp>
        <p:nvSpPr>
          <p:cNvPr id="10" name="Rectangle 9">
            <a:extLst>
              <a:ext uri="{FF2B5EF4-FFF2-40B4-BE49-F238E27FC236}">
                <a16:creationId xmlns:a16="http://schemas.microsoft.com/office/drawing/2014/main" id="{4304DFDE-85D2-B669-E954-055CB3EEDE55}"/>
              </a:ext>
            </a:extLst>
          </p:cNvPr>
          <p:cNvSpPr/>
          <p:nvPr/>
        </p:nvSpPr>
        <p:spPr>
          <a:xfrm>
            <a:off x="7969398" y="1416092"/>
            <a:ext cx="1227478" cy="310710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D9CD5259-4DCC-0947-C942-50910EF44800}"/>
              </a:ext>
            </a:extLst>
          </p:cNvPr>
          <p:cNvSpPr txBox="1"/>
          <p:nvPr/>
        </p:nvSpPr>
        <p:spPr>
          <a:xfrm>
            <a:off x="1557866" y="4396200"/>
            <a:ext cx="4538133" cy="261610"/>
          </a:xfrm>
          <a:prstGeom prst="rect">
            <a:avLst/>
          </a:prstGeom>
          <a:noFill/>
        </p:spPr>
        <p:txBody>
          <a:bodyPr wrap="square" lIns="91440" tIns="45720" rIns="91440" bIns="45720" rtlCol="0" anchor="t">
            <a:spAutoFit/>
          </a:bodyPr>
          <a:lstStyle/>
          <a:p>
            <a:r>
              <a:rPr lang="en-PH" sz="1100" i="1" dirty="0"/>
              <a:t>Note:  Cash flows include both CRR and FIT-All, as of May 5, 2026</a:t>
            </a:r>
          </a:p>
        </p:txBody>
      </p:sp>
      <p:sp>
        <p:nvSpPr>
          <p:cNvPr id="7" name="Title 1">
            <a:extLst>
              <a:ext uri="{FF2B5EF4-FFF2-40B4-BE49-F238E27FC236}">
                <a16:creationId xmlns:a16="http://schemas.microsoft.com/office/drawing/2014/main" id="{F8EE4313-D702-2335-E80D-5F822BDCC935}"/>
              </a:ext>
            </a:extLst>
          </p:cNvPr>
          <p:cNvSpPr txBox="1">
            <a:spLocks/>
          </p:cNvSpPr>
          <p:nvPr/>
        </p:nvSpPr>
        <p:spPr>
          <a:xfrm>
            <a:off x="2559751" y="662983"/>
            <a:ext cx="6781800" cy="762000"/>
          </a:xfrm>
          <a:prstGeom prst="rect">
            <a:avLst/>
          </a:prstGeom>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3200" b="1" kern="1200">
                <a:solidFill>
                  <a:schemeClr val="accent1">
                    <a:lumMod val="50000"/>
                  </a:schemeClr>
                </a:solidFill>
                <a:latin typeface="Montserrat Black" panose="00000A00000000000000" pitchFamily="50" charset="0"/>
                <a:ea typeface="+mj-ea"/>
                <a:cs typeface="+mj-cs"/>
              </a:defRPr>
            </a:lvl1pPr>
          </a:lstStyle>
          <a:p>
            <a:pPr algn="ctr"/>
            <a:r>
              <a:rPr lang="en-PH" sz="3600" dirty="0"/>
              <a:t>FIT ALL FUND CASH FLOW, In Mn </a:t>
            </a:r>
            <a:r>
              <a:rPr lang="en-PH" sz="3600" dirty="0" err="1"/>
              <a:t>Php</a:t>
            </a:r>
            <a:br>
              <a:rPr lang="en-PH" dirty="0"/>
            </a:br>
            <a:r>
              <a:rPr lang="en-PH" sz="3000" dirty="0"/>
              <a:t>After May 5, 2026 Payment Date</a:t>
            </a:r>
          </a:p>
        </p:txBody>
      </p:sp>
      <p:pic>
        <p:nvPicPr>
          <p:cNvPr id="6" name="Picture 5" descr="A screenshot of a calculator&#10;&#10;AI-generated content may be incorrect.">
            <a:extLst>
              <a:ext uri="{FF2B5EF4-FFF2-40B4-BE49-F238E27FC236}">
                <a16:creationId xmlns:a16="http://schemas.microsoft.com/office/drawing/2014/main" id="{5DE4905E-31AD-0BA7-66A4-7D1676B757C5}"/>
              </a:ext>
            </a:extLst>
          </p:cNvPr>
          <p:cNvPicPr>
            <a:picLocks noChangeAspect="1"/>
          </p:cNvPicPr>
          <p:nvPr/>
        </p:nvPicPr>
        <p:blipFill>
          <a:blip r:embed="rId3"/>
          <a:stretch>
            <a:fillRect/>
          </a:stretch>
        </p:blipFill>
        <p:spPr>
          <a:xfrm>
            <a:off x="5296044" y="4652963"/>
            <a:ext cx="3724275" cy="2124075"/>
          </a:xfrm>
          <a:prstGeom prst="rect">
            <a:avLst/>
          </a:prstGeom>
        </p:spPr>
      </p:pic>
    </p:spTree>
    <p:extLst>
      <p:ext uri="{BB962C8B-B14F-4D97-AF65-F5344CB8AC3E}">
        <p14:creationId xmlns:p14="http://schemas.microsoft.com/office/powerpoint/2010/main" val="3441748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4439A-32C4-1F84-206D-CF74D19009D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D8896F5-324C-93E7-45D3-5A1755E39AF6}"/>
              </a:ext>
            </a:extLst>
          </p:cNvPr>
          <p:cNvSpPr txBox="1">
            <a:spLocks/>
          </p:cNvSpPr>
          <p:nvPr/>
        </p:nvSpPr>
        <p:spPr>
          <a:xfrm>
            <a:off x="773724" y="458695"/>
            <a:ext cx="9293468" cy="762000"/>
          </a:xfrm>
          <a:prstGeom prst="rect">
            <a:avLst/>
          </a:prstGeom>
        </p:spPr>
        <p:txBody>
          <a:bodyPr vert="horz" lIns="91440" tIns="45720" rIns="91440" bIns="45720" rtlCol="0" anchor="ctr">
            <a:normAutofit fontScale="60000" lnSpcReduction="20000"/>
          </a:bodyPr>
          <a:lstStyle>
            <a:lvl1pPr algn="l" defTabSz="914400" rtl="0" eaLnBrk="1" latinLnBrk="0" hangingPunct="1">
              <a:lnSpc>
                <a:spcPct val="90000"/>
              </a:lnSpc>
              <a:spcBef>
                <a:spcPct val="0"/>
              </a:spcBef>
              <a:buNone/>
              <a:defRPr sz="3200" b="1" kern="1200">
                <a:solidFill>
                  <a:schemeClr val="accent1">
                    <a:lumMod val="50000"/>
                  </a:schemeClr>
                </a:solidFill>
                <a:latin typeface="Montserrat Black" panose="00000A00000000000000" pitchFamily="50" charset="0"/>
                <a:ea typeface="+mj-ea"/>
                <a:cs typeface="+mj-cs"/>
              </a:defRPr>
            </a:lvl1pPr>
          </a:lstStyle>
          <a:p>
            <a:pPr algn="ctr"/>
            <a:r>
              <a:rPr lang="en-PH" sz="3600" dirty="0">
                <a:latin typeface="Montserrat Black"/>
              </a:rPr>
              <a:t>SCHEDULE OF FIT DIFFERENTIAL (FD) PAYMENTS, In </a:t>
            </a:r>
            <a:r>
              <a:rPr lang="en-PH" sz="3600" dirty="0" err="1">
                <a:latin typeface="Montserrat Black"/>
              </a:rPr>
              <a:t>Php</a:t>
            </a:r>
            <a:br>
              <a:rPr lang="en-PH" dirty="0"/>
            </a:br>
            <a:r>
              <a:rPr lang="en-PH" sz="3000" dirty="0">
                <a:latin typeface="Montserrat Black"/>
              </a:rPr>
              <a:t>After May 5, 2026 Payment Date</a:t>
            </a:r>
          </a:p>
        </p:txBody>
      </p:sp>
      <p:pic>
        <p:nvPicPr>
          <p:cNvPr id="12" name="Picture 11" descr="A screenshot of a blue and white document&#10;&#10;AI-generated content may be incorrect.">
            <a:extLst>
              <a:ext uri="{FF2B5EF4-FFF2-40B4-BE49-F238E27FC236}">
                <a16:creationId xmlns:a16="http://schemas.microsoft.com/office/drawing/2014/main" id="{4C33D7ED-5651-15C7-715C-DF33E32BCB9F}"/>
              </a:ext>
            </a:extLst>
          </p:cNvPr>
          <p:cNvPicPr>
            <a:picLocks noChangeAspect="1"/>
          </p:cNvPicPr>
          <p:nvPr/>
        </p:nvPicPr>
        <p:blipFill>
          <a:blip r:embed="rId2"/>
          <a:stretch>
            <a:fillRect/>
          </a:stretch>
        </p:blipFill>
        <p:spPr>
          <a:xfrm>
            <a:off x="1633804" y="1490998"/>
            <a:ext cx="8613149" cy="3876003"/>
          </a:xfrm>
          <a:prstGeom prst="rect">
            <a:avLst/>
          </a:prstGeom>
        </p:spPr>
      </p:pic>
    </p:spTree>
    <p:extLst>
      <p:ext uri="{BB962C8B-B14F-4D97-AF65-F5344CB8AC3E}">
        <p14:creationId xmlns:p14="http://schemas.microsoft.com/office/powerpoint/2010/main" val="4168223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6">
            <a:extLst>
              <a:ext uri="{FF2B5EF4-FFF2-40B4-BE49-F238E27FC236}">
                <a16:creationId xmlns:a16="http://schemas.microsoft.com/office/drawing/2014/main" id="{B8CC1D2C-6173-7D12-8937-3E77BC19FE28}"/>
              </a:ext>
            </a:extLst>
          </p:cNvPr>
          <p:cNvSpPr txBox="1">
            <a:spLocks noChangeArrowheads="1"/>
          </p:cNvSpPr>
          <p:nvPr/>
        </p:nvSpPr>
        <p:spPr bwMode="auto">
          <a:xfrm>
            <a:off x="1503336" y="309741"/>
            <a:ext cx="8985987" cy="1384986"/>
          </a:xfrm>
          <a:prstGeom prst="rect">
            <a:avLst/>
          </a:prstGeom>
          <a:noFill/>
          <a:ln w="9525">
            <a:noFill/>
            <a:miter lim="800000"/>
            <a:headEnd/>
            <a:tailEnd/>
          </a:ln>
          <a:effectLst/>
        </p:spPr>
        <p:txBody>
          <a:bodyPr wrap="square" lIns="91433" tIns="45716" rIns="91433" bIns="45716">
            <a:spAutoFit/>
          </a:bodyPr>
          <a:lstStyle/>
          <a:p>
            <a:pPr algn="ctr" fontAlgn="auto">
              <a:spcBef>
                <a:spcPts val="0"/>
              </a:spcBef>
              <a:spcAft>
                <a:spcPts val="0"/>
              </a:spcAft>
              <a:defRPr/>
            </a:pPr>
            <a:endParaRPr lang="en-US" sz="2800" b="1">
              <a:solidFill>
                <a:schemeClr val="accent1">
                  <a:lumMod val="50000"/>
                </a:schemeClr>
              </a:solidFill>
              <a:latin typeface="Montserrat ExtraBold" panose="00000900000000000000" pitchFamily="2" charset="0"/>
            </a:endParaRPr>
          </a:p>
          <a:p>
            <a:pPr algn="ctr" fontAlgn="auto">
              <a:spcBef>
                <a:spcPts val="0"/>
              </a:spcBef>
              <a:spcAft>
                <a:spcPts val="0"/>
              </a:spcAft>
              <a:defRPr/>
            </a:pPr>
            <a:r>
              <a:rPr lang="en-US" sz="2800" b="1">
                <a:solidFill>
                  <a:schemeClr val="accent1">
                    <a:lumMod val="50000"/>
                  </a:schemeClr>
                </a:solidFill>
                <a:latin typeface="Montserrat ExtraBold" panose="00000900000000000000" pitchFamily="2" charset="0"/>
              </a:rPr>
              <a:t>  EFFECTIVE COST RECOVERY RATE, </a:t>
            </a:r>
            <a:r>
              <a:rPr lang="en-US" sz="2800" b="1" err="1">
                <a:solidFill>
                  <a:schemeClr val="accent1">
                    <a:lumMod val="50000"/>
                  </a:schemeClr>
                </a:solidFill>
                <a:latin typeface="Montserrat ExtraBold" panose="00000900000000000000" pitchFamily="2" charset="0"/>
              </a:rPr>
              <a:t>PhP</a:t>
            </a:r>
            <a:r>
              <a:rPr lang="en-US" sz="2800" b="1">
                <a:solidFill>
                  <a:schemeClr val="accent1">
                    <a:lumMod val="50000"/>
                  </a:schemeClr>
                </a:solidFill>
                <a:latin typeface="Montserrat ExtraBold" panose="00000900000000000000" pitchFamily="2" charset="0"/>
              </a:rPr>
              <a:t>/kWh</a:t>
            </a:r>
            <a:endParaRPr lang="en-US" sz="2800" b="1">
              <a:ln w="17780" cmpd="sng">
                <a:solidFill>
                  <a:schemeClr val="tx1"/>
                </a:solidFill>
                <a:prstDash val="solid"/>
                <a:miter lim="800000"/>
              </a:ln>
              <a:solidFill>
                <a:schemeClr val="accent1">
                  <a:lumMod val="50000"/>
                </a:schemeClr>
              </a:solidFill>
              <a:effectLst>
                <a:outerShdw blurRad="50800" algn="tl" rotWithShape="0">
                  <a:srgbClr val="000000"/>
                </a:outerShdw>
              </a:effectLst>
              <a:latin typeface="Montserrat ExtraBold" panose="00000900000000000000" pitchFamily="2" charset="0"/>
            </a:endParaRPr>
          </a:p>
          <a:p>
            <a:pPr algn="ctr" fontAlgn="auto">
              <a:spcBef>
                <a:spcPts val="0"/>
              </a:spcBef>
              <a:spcAft>
                <a:spcPts val="0"/>
              </a:spcAft>
              <a:defRPr/>
            </a:pPr>
            <a:endParaRPr lang="en-US" sz="2800" b="1">
              <a:ln w="17780" cmpd="sng">
                <a:solidFill>
                  <a:schemeClr val="tx1"/>
                </a:solidFill>
                <a:prstDash val="solid"/>
                <a:miter lim="800000"/>
              </a:ln>
              <a:solidFill>
                <a:schemeClr val="accent1">
                  <a:lumMod val="50000"/>
                </a:schemeClr>
              </a:solidFill>
              <a:effectLst>
                <a:outerShdw blurRad="50800" algn="tl" rotWithShape="0">
                  <a:srgbClr val="000000"/>
                </a:outerShdw>
              </a:effectLst>
              <a:latin typeface="Montserrat ExtraBold" panose="00000900000000000000" pitchFamily="2" charset="0"/>
            </a:endParaRPr>
          </a:p>
        </p:txBody>
      </p:sp>
      <p:pic>
        <p:nvPicPr>
          <p:cNvPr id="4" name="Picture 3">
            <a:extLst>
              <a:ext uri="{FF2B5EF4-FFF2-40B4-BE49-F238E27FC236}">
                <a16:creationId xmlns:a16="http://schemas.microsoft.com/office/drawing/2014/main" id="{5FBE652F-665C-13D0-6E81-15E6631C5C80}"/>
              </a:ext>
            </a:extLst>
          </p:cNvPr>
          <p:cNvPicPr>
            <a:picLocks noChangeAspect="1"/>
          </p:cNvPicPr>
          <p:nvPr/>
        </p:nvPicPr>
        <p:blipFill>
          <a:blip r:embed="rId3"/>
          <a:stretch>
            <a:fillRect/>
          </a:stretch>
        </p:blipFill>
        <p:spPr>
          <a:xfrm>
            <a:off x="1188763" y="2673680"/>
            <a:ext cx="8100243" cy="2848373"/>
          </a:xfrm>
          <a:prstGeom prst="rect">
            <a:avLst/>
          </a:prstGeom>
        </p:spPr>
      </p:pic>
      <p:pic>
        <p:nvPicPr>
          <p:cNvPr id="7" name="Picture 6">
            <a:extLst>
              <a:ext uri="{FF2B5EF4-FFF2-40B4-BE49-F238E27FC236}">
                <a16:creationId xmlns:a16="http://schemas.microsoft.com/office/drawing/2014/main" id="{67B65841-6A14-A5E9-119F-98E5149F76CD}"/>
              </a:ext>
            </a:extLst>
          </p:cNvPr>
          <p:cNvPicPr>
            <a:picLocks noChangeAspect="1"/>
          </p:cNvPicPr>
          <p:nvPr/>
        </p:nvPicPr>
        <p:blipFill>
          <a:blip r:embed="rId4"/>
          <a:stretch>
            <a:fillRect/>
          </a:stretch>
        </p:blipFill>
        <p:spPr>
          <a:xfrm>
            <a:off x="1188763" y="1230713"/>
            <a:ext cx="10116962" cy="1400370"/>
          </a:xfrm>
          <a:prstGeom prst="rect">
            <a:avLst/>
          </a:prstGeom>
        </p:spPr>
      </p:pic>
      <p:pic>
        <p:nvPicPr>
          <p:cNvPr id="11" name="Picture 10">
            <a:extLst>
              <a:ext uri="{FF2B5EF4-FFF2-40B4-BE49-F238E27FC236}">
                <a16:creationId xmlns:a16="http://schemas.microsoft.com/office/drawing/2014/main" id="{F64FB596-E99E-961D-7229-76225BBB4A56}"/>
              </a:ext>
            </a:extLst>
          </p:cNvPr>
          <p:cNvPicPr>
            <a:picLocks noChangeAspect="1"/>
          </p:cNvPicPr>
          <p:nvPr/>
        </p:nvPicPr>
        <p:blipFill>
          <a:blip r:embed="rId5"/>
          <a:stretch>
            <a:fillRect/>
          </a:stretch>
        </p:blipFill>
        <p:spPr>
          <a:xfrm>
            <a:off x="9289006" y="2631083"/>
            <a:ext cx="2016720" cy="3261717"/>
          </a:xfrm>
          <a:prstGeom prst="rect">
            <a:avLst/>
          </a:prstGeom>
        </p:spPr>
      </p:pic>
    </p:spTree>
    <p:extLst>
      <p:ext uri="{BB962C8B-B14F-4D97-AF65-F5344CB8AC3E}">
        <p14:creationId xmlns:p14="http://schemas.microsoft.com/office/powerpoint/2010/main" val="588949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6">
            <a:extLst>
              <a:ext uri="{FF2B5EF4-FFF2-40B4-BE49-F238E27FC236}">
                <a16:creationId xmlns:a16="http://schemas.microsoft.com/office/drawing/2014/main" id="{2B9D8105-280D-121F-14E3-D69E32ADF2C5}"/>
              </a:ext>
            </a:extLst>
          </p:cNvPr>
          <p:cNvSpPr txBox="1">
            <a:spLocks noChangeArrowheads="1"/>
          </p:cNvSpPr>
          <p:nvPr/>
        </p:nvSpPr>
        <p:spPr bwMode="auto">
          <a:xfrm>
            <a:off x="1549652" y="-185979"/>
            <a:ext cx="8522094" cy="1938984"/>
          </a:xfrm>
          <a:prstGeom prst="rect">
            <a:avLst/>
          </a:prstGeom>
          <a:noFill/>
          <a:ln w="9525">
            <a:noFill/>
            <a:miter lim="800000"/>
            <a:headEnd/>
            <a:tailEnd/>
          </a:ln>
          <a:effectLst/>
        </p:spPr>
        <p:txBody>
          <a:bodyPr wrap="square" lIns="91433" tIns="45716" rIns="91433" bIns="45716">
            <a:spAutoFit/>
          </a:bodyPr>
          <a:lstStyle/>
          <a:p>
            <a:pPr algn="ctr" fontAlgn="auto">
              <a:spcBef>
                <a:spcPts val="0"/>
              </a:spcBef>
              <a:spcAft>
                <a:spcPts val="0"/>
              </a:spcAft>
              <a:defRPr/>
            </a:pPr>
            <a:endParaRPr lang="en-US" sz="4000" b="1">
              <a:solidFill>
                <a:schemeClr val="accent1">
                  <a:lumMod val="50000"/>
                </a:schemeClr>
              </a:solidFill>
              <a:latin typeface="+mn-lt"/>
              <a:cs typeface="+mn-cs"/>
            </a:endParaRPr>
          </a:p>
          <a:p>
            <a:pPr algn="ctr" fontAlgn="auto">
              <a:spcBef>
                <a:spcPts val="0"/>
              </a:spcBef>
              <a:spcAft>
                <a:spcPts val="0"/>
              </a:spcAft>
              <a:defRPr/>
            </a:pPr>
            <a:r>
              <a:rPr lang="en-US" sz="4000" b="1">
                <a:solidFill>
                  <a:schemeClr val="accent1">
                    <a:lumMod val="50000"/>
                  </a:schemeClr>
                </a:solidFill>
                <a:latin typeface="+mn-lt"/>
                <a:cs typeface="+mn-cs"/>
              </a:rPr>
              <a:t>   </a:t>
            </a:r>
            <a:r>
              <a:rPr lang="en-US" sz="3000" b="1">
                <a:solidFill>
                  <a:schemeClr val="accent1">
                    <a:lumMod val="50000"/>
                  </a:schemeClr>
                </a:solidFill>
                <a:latin typeface="Montserrat ExtraBold" panose="00000900000000000000" pitchFamily="2" charset="0"/>
              </a:rPr>
              <a:t>FIT-ALL RATE APPROVAL</a:t>
            </a:r>
            <a:endParaRPr lang="en-US" sz="3000" b="1">
              <a:ln w="17780" cmpd="sng">
                <a:solidFill>
                  <a:schemeClr val="tx1"/>
                </a:solidFill>
                <a:prstDash val="solid"/>
                <a:miter lim="800000"/>
              </a:ln>
              <a:solidFill>
                <a:schemeClr val="accent1">
                  <a:lumMod val="50000"/>
                </a:schemeClr>
              </a:solidFill>
              <a:effectLst>
                <a:outerShdw blurRad="50800" algn="tl" rotWithShape="0">
                  <a:srgbClr val="000000"/>
                </a:outerShdw>
              </a:effectLst>
              <a:latin typeface="Montserrat ExtraBold" panose="00000900000000000000" pitchFamily="2" charset="0"/>
            </a:endParaRPr>
          </a:p>
          <a:p>
            <a:pPr algn="ctr" fontAlgn="auto">
              <a:spcBef>
                <a:spcPts val="0"/>
              </a:spcBef>
              <a:spcAft>
                <a:spcPts val="0"/>
              </a:spcAft>
              <a:defRPr/>
            </a:pPr>
            <a:endParaRPr lang="en-US" sz="4000" b="1">
              <a:ln w="17780" cmpd="sng">
                <a:solidFill>
                  <a:schemeClr val="tx1"/>
                </a:solidFill>
                <a:prstDash val="solid"/>
                <a:miter lim="800000"/>
              </a:ln>
              <a:solidFill>
                <a:schemeClr val="accent1">
                  <a:lumMod val="50000"/>
                </a:schemeClr>
              </a:solidFill>
              <a:effectLst>
                <a:outerShdw blurRad="50800" algn="tl" rotWithShape="0">
                  <a:srgbClr val="000000"/>
                </a:outerShdw>
              </a:effectLst>
              <a:latin typeface="Arial Rounded MT Bold" pitchFamily="34" charset="0"/>
              <a:cs typeface="+mn-cs"/>
            </a:endParaRPr>
          </a:p>
        </p:txBody>
      </p:sp>
      <p:pic>
        <p:nvPicPr>
          <p:cNvPr id="3" name="Picture 2">
            <a:extLst>
              <a:ext uri="{FF2B5EF4-FFF2-40B4-BE49-F238E27FC236}">
                <a16:creationId xmlns:a16="http://schemas.microsoft.com/office/drawing/2014/main" id="{DF67DAC6-2311-A871-2E72-41E0E5BCFF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128" y="2026920"/>
            <a:ext cx="10787743" cy="2804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6966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EBDB09-0FF8-B3B6-FF20-4439DF0A65D9}"/>
              </a:ext>
            </a:extLst>
          </p:cNvPr>
          <p:cNvSpPr txBox="1">
            <a:spLocks noChangeArrowheads="1"/>
          </p:cNvSpPr>
          <p:nvPr/>
        </p:nvSpPr>
        <p:spPr bwMode="auto">
          <a:xfrm>
            <a:off x="1374462" y="346098"/>
            <a:ext cx="9406382" cy="553998"/>
          </a:xfrm>
          <a:prstGeom prst="rect">
            <a:avLst/>
          </a:prstGeom>
          <a:noFill/>
          <a:ln>
            <a:noFill/>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PH" sz="3000">
                <a:solidFill>
                  <a:schemeClr val="accent1">
                    <a:lumMod val="50000"/>
                  </a:schemeClr>
                </a:solidFill>
                <a:latin typeface="Montserrat ExtraBold" panose="00000900000000000000" pitchFamily="2" charset="0"/>
              </a:rPr>
              <a:t>RE PAYMENT AGREEMENT (REPA) STATUS</a:t>
            </a:r>
          </a:p>
        </p:txBody>
      </p:sp>
      <p:sp>
        <p:nvSpPr>
          <p:cNvPr id="3" name="TextBox 2">
            <a:extLst>
              <a:ext uri="{FF2B5EF4-FFF2-40B4-BE49-F238E27FC236}">
                <a16:creationId xmlns:a16="http://schemas.microsoft.com/office/drawing/2014/main" id="{E6798794-70DF-EC5D-D514-54D9B96A936D}"/>
              </a:ext>
            </a:extLst>
          </p:cNvPr>
          <p:cNvSpPr txBox="1">
            <a:spLocks noChangeArrowheads="1"/>
          </p:cNvSpPr>
          <p:nvPr/>
        </p:nvSpPr>
        <p:spPr bwMode="auto">
          <a:xfrm>
            <a:off x="1374462" y="1077749"/>
            <a:ext cx="304000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PH" altLang="en-US" sz="1600" b="1" i="1" dirty="0">
                <a:latin typeface="Montserrat Medium"/>
              </a:rPr>
              <a:t>As of May 5, 2026</a:t>
            </a:r>
            <a:endParaRPr lang="en-PH" altLang="en-US" sz="1600" b="1" i="1" dirty="0">
              <a:latin typeface="Montserrat Medium" panose="00000600000000000000" pitchFamily="2" charset="0"/>
            </a:endParaRPr>
          </a:p>
        </p:txBody>
      </p:sp>
      <p:pic>
        <p:nvPicPr>
          <p:cNvPr id="6" name="Picture 5">
            <a:extLst>
              <a:ext uri="{FF2B5EF4-FFF2-40B4-BE49-F238E27FC236}">
                <a16:creationId xmlns:a16="http://schemas.microsoft.com/office/drawing/2014/main" id="{957703B7-ACDC-C341-787D-64CB66C1FA83}"/>
              </a:ext>
            </a:extLst>
          </p:cNvPr>
          <p:cNvPicPr>
            <a:picLocks noChangeAspect="1"/>
          </p:cNvPicPr>
          <p:nvPr/>
        </p:nvPicPr>
        <p:blipFill>
          <a:blip r:embed="rId2"/>
          <a:stretch>
            <a:fillRect/>
          </a:stretch>
        </p:blipFill>
        <p:spPr>
          <a:xfrm>
            <a:off x="3028079" y="1654387"/>
            <a:ext cx="5637007" cy="3992880"/>
          </a:xfrm>
          <a:prstGeom prst="rect">
            <a:avLst/>
          </a:prstGeom>
        </p:spPr>
      </p:pic>
    </p:spTree>
    <p:extLst>
      <p:ext uri="{BB962C8B-B14F-4D97-AF65-F5344CB8AC3E}">
        <p14:creationId xmlns:p14="http://schemas.microsoft.com/office/powerpoint/2010/main" val="2976632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6E79F-DEB1-38BA-FC83-0247AA57F93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84CF24D-AEB8-ECD7-C4CC-2673AB76EBDD}"/>
              </a:ext>
            </a:extLst>
          </p:cNvPr>
          <p:cNvSpPr txBox="1">
            <a:spLocks/>
          </p:cNvSpPr>
          <p:nvPr/>
        </p:nvSpPr>
        <p:spPr>
          <a:xfrm>
            <a:off x="1590578" y="1914195"/>
            <a:ext cx="9204422" cy="2209800"/>
          </a:xfrm>
          <a:prstGeom prst="rect">
            <a:avLst/>
          </a:prstGeom>
          <a:effectLst>
            <a:outerShdw blurRad="50800" dist="38100" dir="2700000" algn="tl" rotWithShape="0">
              <a:prstClr val="black">
                <a:alpha val="40000"/>
              </a:prstClr>
            </a:outerShdw>
          </a:effectLst>
        </p:spPr>
        <p:txBody>
          <a:bodyPr vert="horz" lIns="91440" tIns="45720" rIns="91440" bIns="45720" rtlCol="0" anchor="ctr">
            <a:normAutofit/>
          </a:bodyPr>
          <a:lstStyle>
            <a:lvl1pPr algn="r" defTabSz="914400" rtl="0" eaLnBrk="1" latinLnBrk="0" hangingPunct="1">
              <a:spcBef>
                <a:spcPct val="0"/>
              </a:spcBef>
              <a:buNone/>
              <a:defRPr sz="3600" kern="1200">
                <a:solidFill>
                  <a:schemeClr val="bg1"/>
                </a:solidFill>
                <a:latin typeface="+mj-lt"/>
                <a:ea typeface="+mj-ea"/>
                <a:cs typeface="+mj-cs"/>
              </a:defRPr>
            </a:lvl1pPr>
          </a:lstStyle>
          <a:p>
            <a:pPr algn="l"/>
            <a:r>
              <a:rPr lang="en-US" sz="4400" b="1">
                <a:latin typeface="Montserrat ExtraBold" panose="00000900000000000000" pitchFamily="2" charset="0"/>
              </a:rPr>
              <a:t>Updates on the Green Energy Auction Allowance (</a:t>
            </a:r>
            <a:r>
              <a:rPr lang="en-US" sz="4400" b="1" err="1">
                <a:latin typeface="Montserrat ExtraBold" panose="00000900000000000000" pitchFamily="2" charset="0"/>
              </a:rPr>
              <a:t>GEA-All</a:t>
            </a:r>
            <a:r>
              <a:rPr lang="en-US" sz="4400" b="1">
                <a:latin typeface="Montserrat ExtraBold" panose="00000900000000000000" pitchFamily="2" charset="0"/>
              </a:rPr>
              <a:t>) </a:t>
            </a:r>
          </a:p>
        </p:txBody>
      </p:sp>
    </p:spTree>
    <p:extLst>
      <p:ext uri="{BB962C8B-B14F-4D97-AF65-F5344CB8AC3E}">
        <p14:creationId xmlns:p14="http://schemas.microsoft.com/office/powerpoint/2010/main" val="1242842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B7A18-7917-D5B4-53A0-40414374506E}"/>
            </a:ext>
          </a:extLst>
        </p:cNvPr>
        <p:cNvGrpSpPr/>
        <p:nvPr/>
      </p:nvGrpSpPr>
      <p:grpSpPr>
        <a:xfrm>
          <a:off x="0" y="0"/>
          <a:ext cx="0" cy="0"/>
          <a:chOff x="0" y="0"/>
          <a:chExt cx="0" cy="0"/>
        </a:xfrm>
      </p:grpSpPr>
      <p:sp>
        <p:nvSpPr>
          <p:cNvPr id="2" name="Text Box 26">
            <a:extLst>
              <a:ext uri="{FF2B5EF4-FFF2-40B4-BE49-F238E27FC236}">
                <a16:creationId xmlns:a16="http://schemas.microsoft.com/office/drawing/2014/main" id="{41017906-ED64-7DF6-07C8-BE1D86F96777}"/>
              </a:ext>
            </a:extLst>
          </p:cNvPr>
          <p:cNvSpPr txBox="1">
            <a:spLocks noChangeArrowheads="1"/>
          </p:cNvSpPr>
          <p:nvPr/>
        </p:nvSpPr>
        <p:spPr bwMode="auto">
          <a:xfrm>
            <a:off x="1549652" y="-185979"/>
            <a:ext cx="8522094" cy="1323431"/>
          </a:xfrm>
          <a:prstGeom prst="rect">
            <a:avLst/>
          </a:prstGeom>
          <a:noFill/>
          <a:ln w="9525">
            <a:noFill/>
            <a:miter lim="800000"/>
            <a:headEnd/>
            <a:tailEnd/>
          </a:ln>
          <a:effectLst/>
        </p:spPr>
        <p:txBody>
          <a:bodyPr wrap="square" lIns="91433" tIns="45716" rIns="91433" bIns="45716" anchor="t">
            <a:spAutoFit/>
          </a:bodyPr>
          <a:lstStyle/>
          <a:p>
            <a:pPr algn="ctr" fontAlgn="auto">
              <a:spcBef>
                <a:spcPts val="0"/>
              </a:spcBef>
              <a:spcAft>
                <a:spcPts val="0"/>
              </a:spcAft>
              <a:defRPr/>
            </a:pPr>
            <a:endParaRPr lang="en-US" sz="4000" b="1">
              <a:solidFill>
                <a:schemeClr val="accent1">
                  <a:lumMod val="50000"/>
                </a:schemeClr>
              </a:solidFill>
              <a:latin typeface="+mn-lt"/>
              <a:cs typeface="+mn-cs"/>
            </a:endParaRPr>
          </a:p>
          <a:p>
            <a:pPr algn="ctr" fontAlgn="auto">
              <a:spcBef>
                <a:spcPts val="0"/>
              </a:spcBef>
              <a:spcAft>
                <a:spcPts val="0"/>
              </a:spcAft>
              <a:defRPr/>
            </a:pPr>
            <a:r>
              <a:rPr lang="en-US" sz="4000" b="1">
                <a:solidFill>
                  <a:schemeClr val="accent1">
                    <a:lumMod val="50000"/>
                  </a:schemeClr>
                </a:solidFill>
                <a:latin typeface="+mn-lt"/>
                <a:cs typeface="+mn-cs"/>
              </a:rPr>
              <a:t>   </a:t>
            </a:r>
            <a:r>
              <a:rPr lang="en-US" sz="3000" b="1">
                <a:solidFill>
                  <a:schemeClr val="accent1">
                    <a:lumMod val="50000"/>
                  </a:schemeClr>
                </a:solidFill>
                <a:latin typeface="Montserrat ExtraBold"/>
              </a:rPr>
              <a:t>GEA-ALL RATE APPROVAL</a:t>
            </a:r>
            <a:endParaRPr lang="en-US" sz="3000" b="1">
              <a:ln w="17780" cmpd="sng">
                <a:solidFill>
                  <a:schemeClr val="tx1"/>
                </a:solidFill>
                <a:prstDash val="solid"/>
                <a:miter lim="800000"/>
              </a:ln>
              <a:solidFill>
                <a:schemeClr val="accent1">
                  <a:lumMod val="50000"/>
                </a:schemeClr>
              </a:solidFill>
              <a:effectLst>
                <a:outerShdw blurRad="50800" algn="tl" rotWithShape="0">
                  <a:srgbClr val="000000"/>
                </a:outerShdw>
              </a:effectLst>
              <a:latin typeface="Montserrat ExtraBold"/>
            </a:endParaRPr>
          </a:p>
        </p:txBody>
      </p:sp>
      <p:pic>
        <p:nvPicPr>
          <p:cNvPr id="6" name="Picture 5">
            <a:extLst>
              <a:ext uri="{FF2B5EF4-FFF2-40B4-BE49-F238E27FC236}">
                <a16:creationId xmlns:a16="http://schemas.microsoft.com/office/drawing/2014/main" id="{CBD4BD49-0691-706F-6A61-5ACA6ACBC5BA}"/>
              </a:ext>
            </a:extLst>
          </p:cNvPr>
          <p:cNvPicPr>
            <a:picLocks noChangeAspect="1"/>
          </p:cNvPicPr>
          <p:nvPr/>
        </p:nvPicPr>
        <p:blipFill>
          <a:blip r:embed="rId2"/>
          <a:stretch>
            <a:fillRect/>
          </a:stretch>
        </p:blipFill>
        <p:spPr>
          <a:xfrm>
            <a:off x="514350" y="1667933"/>
            <a:ext cx="11163300" cy="1219200"/>
          </a:xfrm>
          <a:prstGeom prst="rect">
            <a:avLst/>
          </a:prstGeom>
        </p:spPr>
      </p:pic>
      <p:sp>
        <p:nvSpPr>
          <p:cNvPr id="3" name="TextBox 2">
            <a:extLst>
              <a:ext uri="{FF2B5EF4-FFF2-40B4-BE49-F238E27FC236}">
                <a16:creationId xmlns:a16="http://schemas.microsoft.com/office/drawing/2014/main" id="{C1E9B5EA-17E7-8371-E291-6E235BF99E04}"/>
              </a:ext>
            </a:extLst>
          </p:cNvPr>
          <p:cNvSpPr txBox="1"/>
          <p:nvPr/>
        </p:nvSpPr>
        <p:spPr>
          <a:xfrm>
            <a:off x="514350" y="3647702"/>
            <a:ext cx="11163300" cy="646331"/>
          </a:xfrm>
          <a:prstGeom prst="rect">
            <a:avLst/>
          </a:prstGeom>
          <a:noFill/>
        </p:spPr>
        <p:txBody>
          <a:bodyPr wrap="square" rtlCol="0">
            <a:spAutoFit/>
          </a:bodyPr>
          <a:lstStyle/>
          <a:p>
            <a:pPr algn="just"/>
            <a:r>
              <a:rPr lang="en-US" i="1"/>
              <a:t>On </a:t>
            </a:r>
            <a:r>
              <a:rPr lang="en-US" b="1" i="1"/>
              <a:t>February 11, 2026</a:t>
            </a:r>
            <a:r>
              <a:rPr lang="en-US" i="1"/>
              <a:t>, initial remittance to the GEA-All Fund was made by one of the Collection Agents. Total GEA-All collection for the month of February 2026 is  </a:t>
            </a:r>
            <a:r>
              <a:rPr lang="en-US" b="1" i="1"/>
              <a:t>PhP58,261,973.88</a:t>
            </a:r>
            <a:r>
              <a:rPr lang="en-US" i="1"/>
              <a:t>. </a:t>
            </a:r>
          </a:p>
        </p:txBody>
      </p:sp>
    </p:spTree>
    <p:extLst>
      <p:ext uri="{BB962C8B-B14F-4D97-AF65-F5344CB8AC3E}">
        <p14:creationId xmlns:p14="http://schemas.microsoft.com/office/powerpoint/2010/main" val="3939533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5BA0D-85B3-0867-04C1-B914A65A6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9348A-6C5E-76A0-CA34-37996D2CEF38}"/>
              </a:ext>
            </a:extLst>
          </p:cNvPr>
          <p:cNvSpPr>
            <a:spLocks noGrp="1"/>
          </p:cNvSpPr>
          <p:nvPr>
            <p:ph type="ctrTitle"/>
          </p:nvPr>
        </p:nvSpPr>
        <p:spPr/>
        <p:txBody>
          <a:bodyPr/>
          <a:lstStyle/>
          <a:p>
            <a:pPr algn="ctr"/>
            <a:r>
              <a:rPr lang="en-US" sz="3200" b="1">
                <a:latin typeface="Montserrat Black"/>
              </a:rPr>
              <a:t>RE PLANTS UNDER </a:t>
            </a:r>
            <a:r>
              <a:rPr lang="en-US">
                <a:latin typeface="Montserrat Black"/>
              </a:rPr>
              <a:t>THE GEAP (WITH REPA)</a:t>
            </a:r>
            <a:endParaRPr lang="en-PH"/>
          </a:p>
        </p:txBody>
      </p:sp>
      <p:sp>
        <p:nvSpPr>
          <p:cNvPr id="5" name="Content Placeholder 3">
            <a:extLst>
              <a:ext uri="{FF2B5EF4-FFF2-40B4-BE49-F238E27FC236}">
                <a16:creationId xmlns:a16="http://schemas.microsoft.com/office/drawing/2014/main" id="{604B5579-D69D-78CE-CE70-70BD15E0FF64}"/>
              </a:ext>
            </a:extLst>
          </p:cNvPr>
          <p:cNvSpPr txBox="1">
            <a:spLocks/>
          </p:cNvSpPr>
          <p:nvPr/>
        </p:nvSpPr>
        <p:spPr>
          <a:xfrm>
            <a:off x="655512" y="1257797"/>
            <a:ext cx="8399408" cy="35052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accent1">
                    <a:lumMod val="50000"/>
                  </a:schemeClr>
                </a:solidFill>
                <a:latin typeface="Montserrat Medium" panose="00000600000000000000" pitchFamily="50"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H" sz="1800" b="1" i="1">
                <a:solidFill>
                  <a:schemeClr val="tx1"/>
                </a:solidFill>
              </a:rPr>
              <a:t>As of April 6, 2026</a:t>
            </a:r>
          </a:p>
        </p:txBody>
      </p:sp>
      <p:pic>
        <p:nvPicPr>
          <p:cNvPr id="4" name="Picture 3">
            <a:extLst>
              <a:ext uri="{FF2B5EF4-FFF2-40B4-BE49-F238E27FC236}">
                <a16:creationId xmlns:a16="http://schemas.microsoft.com/office/drawing/2014/main" id="{8DB6C72A-1C85-DCD5-1388-A1BBFE584CE3}"/>
              </a:ext>
            </a:extLst>
          </p:cNvPr>
          <p:cNvPicPr>
            <a:picLocks noChangeAspect="1"/>
          </p:cNvPicPr>
          <p:nvPr/>
        </p:nvPicPr>
        <p:blipFill>
          <a:blip r:embed="rId2"/>
          <a:stretch>
            <a:fillRect/>
          </a:stretch>
        </p:blipFill>
        <p:spPr>
          <a:xfrm>
            <a:off x="655512" y="1737049"/>
            <a:ext cx="10909955" cy="1217818"/>
          </a:xfrm>
          <a:prstGeom prst="rect">
            <a:avLst/>
          </a:prstGeom>
        </p:spPr>
      </p:pic>
    </p:spTree>
    <p:extLst>
      <p:ext uri="{BB962C8B-B14F-4D97-AF65-F5344CB8AC3E}">
        <p14:creationId xmlns:p14="http://schemas.microsoft.com/office/powerpoint/2010/main" val="122418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4A40B532-59F2-E197-660B-FABAB515503B}"/>
              </a:ext>
            </a:extLst>
          </p:cNvPr>
          <p:cNvSpPr txBox="1">
            <a:spLocks/>
          </p:cNvSpPr>
          <p:nvPr/>
        </p:nvSpPr>
        <p:spPr>
          <a:xfrm>
            <a:off x="325463" y="4101885"/>
            <a:ext cx="9686441" cy="220980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800" kern="1200">
                <a:solidFill>
                  <a:schemeClr val="bg1"/>
                </a:solidFill>
                <a:latin typeface="Montserrat Black" panose="00000A00000000000000" pitchFamily="50" charset="0"/>
                <a:ea typeface="+mj-ea"/>
                <a:cs typeface="+mj-cs"/>
              </a:defRPr>
            </a:lvl1pPr>
          </a:lstStyle>
          <a:p>
            <a:r>
              <a:rPr lang="en-US" sz="4400"/>
              <a:t>END OF PRESENTATION</a:t>
            </a:r>
          </a:p>
        </p:txBody>
      </p:sp>
    </p:spTree>
    <p:extLst>
      <p:ext uri="{BB962C8B-B14F-4D97-AF65-F5344CB8AC3E}">
        <p14:creationId xmlns:p14="http://schemas.microsoft.com/office/powerpoint/2010/main" val="853625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6">
            <a:extLst>
              <a:ext uri="{FF2B5EF4-FFF2-40B4-BE49-F238E27FC236}">
                <a16:creationId xmlns:a16="http://schemas.microsoft.com/office/drawing/2014/main" id="{BE59F410-05D4-7F5A-1700-72D7D16E6D15}"/>
              </a:ext>
            </a:extLst>
          </p:cNvPr>
          <p:cNvSpPr txBox="1">
            <a:spLocks noChangeArrowheads="1"/>
          </p:cNvSpPr>
          <p:nvPr/>
        </p:nvSpPr>
        <p:spPr bwMode="auto">
          <a:xfrm>
            <a:off x="1645313" y="303037"/>
            <a:ext cx="8359109" cy="1015655"/>
          </a:xfrm>
          <a:prstGeom prst="rect">
            <a:avLst/>
          </a:prstGeom>
          <a:noFill/>
          <a:ln w="9525">
            <a:noFill/>
            <a:miter lim="800000"/>
            <a:headEnd/>
            <a:tailEnd/>
          </a:ln>
          <a:effectLst/>
        </p:spPr>
        <p:txBody>
          <a:bodyPr wrap="square" lIns="91433" tIns="45716" rIns="91433" bIns="45716">
            <a:spAutoFit/>
          </a:bodyPr>
          <a:lstStyle/>
          <a:p>
            <a:pPr algn="ctr" fontAlgn="auto">
              <a:spcBef>
                <a:spcPts val="0"/>
              </a:spcBef>
              <a:spcAft>
                <a:spcPts val="0"/>
              </a:spcAft>
              <a:defRPr/>
            </a:pPr>
            <a:endParaRPr lang="en-US" sz="1200" b="1">
              <a:solidFill>
                <a:schemeClr val="accent1">
                  <a:lumMod val="50000"/>
                </a:schemeClr>
              </a:solidFill>
              <a:latin typeface="Montserrat ExtraBold" panose="00000900000000000000" pitchFamily="2" charset="0"/>
            </a:endParaRPr>
          </a:p>
          <a:p>
            <a:pPr algn="ctr" fontAlgn="auto">
              <a:spcBef>
                <a:spcPts val="0"/>
              </a:spcBef>
              <a:spcAft>
                <a:spcPts val="0"/>
              </a:spcAft>
              <a:defRPr/>
            </a:pPr>
            <a:r>
              <a:rPr lang="en-US" sz="2800" b="1">
                <a:solidFill>
                  <a:schemeClr val="accent1">
                    <a:lumMod val="50000"/>
                  </a:schemeClr>
                </a:solidFill>
                <a:latin typeface="Montserrat ExtraBold" panose="00000900000000000000" pitchFamily="2" charset="0"/>
              </a:rPr>
              <a:t>  GREEN ENERGY AUCTION PROGRAM</a:t>
            </a:r>
            <a:endParaRPr lang="en-US" sz="2800" b="1">
              <a:ln w="17780" cmpd="sng">
                <a:solidFill>
                  <a:schemeClr val="tx1"/>
                </a:solidFill>
                <a:prstDash val="solid"/>
                <a:miter lim="800000"/>
              </a:ln>
              <a:solidFill>
                <a:schemeClr val="accent1">
                  <a:lumMod val="50000"/>
                </a:schemeClr>
              </a:solidFill>
              <a:effectLst>
                <a:outerShdw blurRad="50800" algn="tl" rotWithShape="0">
                  <a:srgbClr val="000000"/>
                </a:outerShdw>
              </a:effectLst>
              <a:latin typeface="Montserrat ExtraBold" panose="00000900000000000000" pitchFamily="2" charset="0"/>
            </a:endParaRPr>
          </a:p>
          <a:p>
            <a:pPr algn="ctr" fontAlgn="auto">
              <a:spcBef>
                <a:spcPts val="0"/>
              </a:spcBef>
              <a:spcAft>
                <a:spcPts val="0"/>
              </a:spcAft>
              <a:defRPr/>
            </a:pPr>
            <a:endParaRPr lang="en-US" sz="2000" b="1">
              <a:ln w="17780" cmpd="sng">
                <a:solidFill>
                  <a:schemeClr val="tx1"/>
                </a:solidFill>
                <a:prstDash val="solid"/>
                <a:miter lim="800000"/>
              </a:ln>
              <a:solidFill>
                <a:schemeClr val="accent1">
                  <a:lumMod val="50000"/>
                </a:schemeClr>
              </a:solidFill>
              <a:effectLst>
                <a:outerShdw blurRad="50800" algn="tl" rotWithShape="0">
                  <a:srgbClr val="000000"/>
                </a:outerShdw>
              </a:effectLst>
              <a:latin typeface="Montserrat ExtraBold" panose="00000900000000000000" pitchFamily="2" charset="0"/>
            </a:endParaRPr>
          </a:p>
        </p:txBody>
      </p:sp>
      <p:sp>
        <p:nvSpPr>
          <p:cNvPr id="5" name="TextBox 4">
            <a:extLst>
              <a:ext uri="{FF2B5EF4-FFF2-40B4-BE49-F238E27FC236}">
                <a16:creationId xmlns:a16="http://schemas.microsoft.com/office/drawing/2014/main" id="{CCEDF56E-2634-C76E-9711-CFC88A70DE2A}"/>
              </a:ext>
            </a:extLst>
          </p:cNvPr>
          <p:cNvSpPr txBox="1"/>
          <p:nvPr/>
        </p:nvSpPr>
        <p:spPr>
          <a:xfrm>
            <a:off x="530191" y="1411025"/>
            <a:ext cx="8630241" cy="5016758"/>
          </a:xfrm>
          <a:prstGeom prst="rect">
            <a:avLst/>
          </a:prstGeom>
          <a:noFill/>
        </p:spPr>
        <p:txBody>
          <a:bodyPr wrap="square">
            <a:spAutoFit/>
          </a:bodyPr>
          <a:lstStyle/>
          <a:p>
            <a:pPr marL="285750" indent="-285750">
              <a:buFont typeface="Arial"/>
              <a:buChar char="•"/>
            </a:pPr>
            <a:r>
              <a:rPr lang="en-US" sz="1600">
                <a:solidFill>
                  <a:schemeClr val="accent1">
                    <a:lumMod val="50000"/>
                  </a:schemeClr>
                </a:solidFill>
                <a:latin typeface="Poppins"/>
              </a:rPr>
              <a:t>The GEAP seeks to help the government hit a 35% share of renewables in the power generation mix by 2030.</a:t>
            </a:r>
          </a:p>
          <a:p>
            <a:pPr marL="285750" indent="-285750">
              <a:buChar char="•"/>
            </a:pPr>
            <a:endParaRPr lang="en-US" sz="1600">
              <a:solidFill>
                <a:schemeClr val="accent1">
                  <a:lumMod val="50000"/>
                </a:schemeClr>
              </a:solidFill>
              <a:latin typeface="Poppins"/>
            </a:endParaRPr>
          </a:p>
          <a:p>
            <a:pPr marL="285750" indent="-285750">
              <a:buChar char="•"/>
            </a:pPr>
            <a:r>
              <a:rPr lang="en-US" sz="1600">
                <a:solidFill>
                  <a:schemeClr val="accent1">
                    <a:lumMod val="50000"/>
                  </a:schemeClr>
                </a:solidFill>
                <a:latin typeface="Poppins"/>
              </a:rPr>
              <a:t>On 03 November 2021, the DOE issued Department Circular No. DC 2021-11-0036. “Providing the Revised Guidelines for the Green Energy Auction Program in the Philippines.</a:t>
            </a:r>
          </a:p>
          <a:p>
            <a:pPr marL="285750" indent="-285750">
              <a:buChar char="•"/>
            </a:pPr>
            <a:endParaRPr lang="en-US" sz="1600">
              <a:solidFill>
                <a:schemeClr val="accent1">
                  <a:lumMod val="50000"/>
                </a:schemeClr>
              </a:solidFill>
            </a:endParaRPr>
          </a:p>
          <a:p>
            <a:pPr marL="285750" indent="-285750">
              <a:buChar char="•"/>
            </a:pPr>
            <a:r>
              <a:rPr lang="en-US" sz="1600">
                <a:solidFill>
                  <a:srgbClr val="002060"/>
                </a:solidFill>
                <a:latin typeface="Poppins"/>
              </a:rPr>
              <a:t>Notice of Auction for the RE capacity under GEAP totaling 2000 MW was released on 09 February 2022 and the first auction was conducted on June 17, 2022.</a:t>
            </a:r>
          </a:p>
          <a:p>
            <a:pPr marL="285750" indent="-285750">
              <a:buChar char="•"/>
            </a:pPr>
            <a:endParaRPr lang="en-US" sz="1600">
              <a:solidFill>
                <a:srgbClr val="002060"/>
              </a:solidFill>
              <a:latin typeface="Poppins"/>
            </a:endParaRPr>
          </a:p>
          <a:p>
            <a:pPr marL="285750" indent="-285750">
              <a:buChar char="•"/>
            </a:pPr>
            <a:r>
              <a:rPr lang="en-US" sz="1600">
                <a:solidFill>
                  <a:srgbClr val="002060"/>
                </a:solidFill>
                <a:latin typeface="Poppins"/>
              </a:rPr>
              <a:t>Initial installation targets and the result of the first auction are as follows:</a:t>
            </a:r>
          </a:p>
          <a:p>
            <a:pPr marL="285750" indent="-285750">
              <a:buChar char="•"/>
            </a:pPr>
            <a:endParaRPr lang="en-US">
              <a:solidFill>
                <a:srgbClr val="002060"/>
              </a:solidFill>
              <a:latin typeface="Poppins"/>
            </a:endParaRPr>
          </a:p>
          <a:p>
            <a:pPr marL="285750" indent="-285750">
              <a:buChar char="•"/>
            </a:pPr>
            <a:endParaRPr lang="en-US">
              <a:solidFill>
                <a:srgbClr val="002060"/>
              </a:solidFill>
              <a:latin typeface="Poppins"/>
            </a:endParaRPr>
          </a:p>
          <a:p>
            <a:pPr marL="285750" indent="-285750">
              <a:buChar char="•"/>
            </a:pPr>
            <a:endParaRPr lang="en-US">
              <a:solidFill>
                <a:srgbClr val="002060"/>
              </a:solidFill>
              <a:latin typeface="Poppins"/>
            </a:endParaRPr>
          </a:p>
          <a:p>
            <a:pPr marL="285750" indent="-285750">
              <a:buChar char="•"/>
            </a:pPr>
            <a:endParaRPr lang="en-US">
              <a:solidFill>
                <a:srgbClr val="002060"/>
              </a:solidFill>
              <a:latin typeface="Poppins"/>
            </a:endParaRPr>
          </a:p>
          <a:p>
            <a:pPr marL="285750" indent="-285750">
              <a:buChar char="•"/>
            </a:pPr>
            <a:endParaRPr lang="en-US">
              <a:solidFill>
                <a:srgbClr val="002060"/>
              </a:solidFill>
              <a:latin typeface="Poppins"/>
            </a:endParaRPr>
          </a:p>
          <a:p>
            <a:pPr marL="285750" indent="-285750">
              <a:buChar char="•"/>
            </a:pPr>
            <a:endParaRPr lang="en-US">
              <a:solidFill>
                <a:srgbClr val="002060"/>
              </a:solidFill>
              <a:latin typeface="Poppins"/>
            </a:endParaRPr>
          </a:p>
          <a:p>
            <a:endParaRPr lang="en-US">
              <a:solidFill>
                <a:srgbClr val="002060"/>
              </a:solidFill>
              <a:latin typeface="Poppins"/>
            </a:endParaRPr>
          </a:p>
          <a:p>
            <a:pPr marL="285750" indent="-285750">
              <a:buFont typeface="Arial"/>
              <a:buChar char="•"/>
            </a:pPr>
            <a:r>
              <a:rPr lang="en-US" sz="1600">
                <a:solidFill>
                  <a:srgbClr val="002060"/>
                </a:solidFill>
                <a:latin typeface="Poppins"/>
              </a:rPr>
              <a:t>Notice of Award </a:t>
            </a:r>
            <a:r>
              <a:rPr lang="en-US">
                <a:solidFill>
                  <a:srgbClr val="002060"/>
                </a:solidFill>
                <a:latin typeface="Poppins"/>
              </a:rPr>
              <a:t>: </a:t>
            </a:r>
            <a:r>
              <a:rPr lang="en-US" b="1" u="sng">
                <a:solidFill>
                  <a:srgbClr val="002060"/>
                </a:solidFill>
                <a:latin typeface="Poppins"/>
              </a:rPr>
              <a:t>24 June 2022</a:t>
            </a:r>
            <a:r>
              <a:rPr lang="en-US" u="sng">
                <a:solidFill>
                  <a:srgbClr val="002060"/>
                </a:solidFill>
                <a:latin typeface="Poppins"/>
              </a:rPr>
              <a:t> </a:t>
            </a:r>
          </a:p>
        </p:txBody>
      </p:sp>
      <p:graphicFrame>
        <p:nvGraphicFramePr>
          <p:cNvPr id="6" name="Object 5">
            <a:extLst>
              <a:ext uri="{FF2B5EF4-FFF2-40B4-BE49-F238E27FC236}">
                <a16:creationId xmlns:a16="http://schemas.microsoft.com/office/drawing/2014/main" id="{019A4D4A-18C9-E561-7ECC-320E3E6A68A1}"/>
              </a:ext>
            </a:extLst>
          </p:cNvPr>
          <p:cNvGraphicFramePr>
            <a:graphicFrameLocks noChangeAspect="1"/>
          </p:cNvGraphicFramePr>
          <p:nvPr>
            <p:extLst>
              <p:ext uri="{D42A27DB-BD31-4B8C-83A1-F6EECF244321}">
                <p14:modId xmlns:p14="http://schemas.microsoft.com/office/powerpoint/2010/main" val="755029429"/>
              </p:ext>
            </p:extLst>
          </p:nvPr>
        </p:nvGraphicFramePr>
        <p:xfrm>
          <a:off x="825761" y="4184615"/>
          <a:ext cx="8039100" cy="1724025"/>
        </p:xfrm>
        <a:graphic>
          <a:graphicData uri="http://schemas.openxmlformats.org/presentationml/2006/ole">
            <mc:AlternateContent xmlns:mc="http://schemas.openxmlformats.org/markup-compatibility/2006">
              <mc:Choice xmlns:v="urn:schemas-microsoft-com:vml" Requires="v">
                <p:oleObj name="Worksheet" r:id="rId2" imgW="8039100" imgH="1723944" progId="Excel.Sheet.12">
                  <p:embed/>
                </p:oleObj>
              </mc:Choice>
              <mc:Fallback>
                <p:oleObj name="Worksheet" r:id="rId2" imgW="8039100" imgH="1723944" progId="Excel.Sheet.12">
                  <p:embed/>
                  <p:pic>
                    <p:nvPicPr>
                      <p:cNvPr id="6" name="Object 5">
                        <a:extLst>
                          <a:ext uri="{FF2B5EF4-FFF2-40B4-BE49-F238E27FC236}">
                            <a16:creationId xmlns:a16="http://schemas.microsoft.com/office/drawing/2014/main" id="{019A4D4A-18C9-E561-7ECC-320E3E6A68A1}"/>
                          </a:ext>
                        </a:extLst>
                      </p:cNvPr>
                      <p:cNvPicPr/>
                      <p:nvPr/>
                    </p:nvPicPr>
                    <p:blipFill>
                      <a:blip r:embed="rId3"/>
                      <a:stretch>
                        <a:fillRect/>
                      </a:stretch>
                    </p:blipFill>
                    <p:spPr>
                      <a:xfrm>
                        <a:off x="825761" y="4184615"/>
                        <a:ext cx="8039100" cy="1724025"/>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309346B7-74B4-B2E4-FB23-FCA518B3C5BB}"/>
              </a:ext>
            </a:extLst>
          </p:cNvPr>
          <p:cNvSpPr txBox="1"/>
          <p:nvPr/>
        </p:nvSpPr>
        <p:spPr>
          <a:xfrm>
            <a:off x="412595" y="949360"/>
            <a:ext cx="1232718" cy="461665"/>
          </a:xfrm>
          <a:prstGeom prst="rect">
            <a:avLst/>
          </a:prstGeom>
          <a:noFill/>
        </p:spPr>
        <p:txBody>
          <a:bodyPr wrap="square" rtlCol="0">
            <a:spAutoFit/>
          </a:bodyPr>
          <a:lstStyle/>
          <a:p>
            <a:pPr algn="ctr"/>
            <a:r>
              <a:rPr lang="en-US" sz="2400" b="1">
                <a:highlight>
                  <a:srgbClr val="FFFF00"/>
                </a:highlight>
              </a:rPr>
              <a:t>GEA-1</a:t>
            </a:r>
          </a:p>
        </p:txBody>
      </p:sp>
      <p:grpSp>
        <p:nvGrpSpPr>
          <p:cNvPr id="8" name="Group 7">
            <a:extLst>
              <a:ext uri="{FF2B5EF4-FFF2-40B4-BE49-F238E27FC236}">
                <a16:creationId xmlns:a16="http://schemas.microsoft.com/office/drawing/2014/main" id="{57B7A4A2-E278-D974-CFF3-685C030E776F}"/>
              </a:ext>
            </a:extLst>
          </p:cNvPr>
          <p:cNvGrpSpPr/>
          <p:nvPr/>
        </p:nvGrpSpPr>
        <p:grpSpPr>
          <a:xfrm>
            <a:off x="9160432" y="1951013"/>
            <a:ext cx="2560176" cy="1968391"/>
            <a:chOff x="9219230" y="1536941"/>
            <a:chExt cx="2560176" cy="1968391"/>
          </a:xfrm>
        </p:grpSpPr>
        <p:graphicFrame>
          <p:nvGraphicFramePr>
            <p:cNvPr id="3" name="Object 2">
              <a:extLst>
                <a:ext uri="{FF2B5EF4-FFF2-40B4-BE49-F238E27FC236}">
                  <a16:creationId xmlns:a16="http://schemas.microsoft.com/office/drawing/2014/main" id="{80E1C95F-8545-F3E1-F706-31BC7FF7980B}"/>
                </a:ext>
              </a:extLst>
            </p:cNvPr>
            <p:cNvGraphicFramePr>
              <a:graphicFrameLocks noChangeAspect="1"/>
            </p:cNvGraphicFramePr>
            <p:nvPr>
              <p:extLst>
                <p:ext uri="{D42A27DB-BD31-4B8C-83A1-F6EECF244321}">
                  <p14:modId xmlns:p14="http://schemas.microsoft.com/office/powerpoint/2010/main" val="1362608708"/>
                </p:ext>
              </p:extLst>
            </p:nvPr>
          </p:nvGraphicFramePr>
          <p:xfrm>
            <a:off x="9278028" y="1536941"/>
            <a:ext cx="2501377" cy="1585200"/>
          </p:xfrm>
          <a:graphic>
            <a:graphicData uri="http://schemas.openxmlformats.org/presentationml/2006/ole">
              <mc:AlternateContent xmlns:mc="http://schemas.openxmlformats.org/markup-compatibility/2006">
                <mc:Choice xmlns:v="urn:schemas-microsoft-com:vml" Requires="v">
                  <p:oleObj name="Worksheet" r:id="rId4" imgW="1819275" imgH="1152565" progId="Excel.Sheet.12">
                    <p:embed/>
                  </p:oleObj>
                </mc:Choice>
                <mc:Fallback>
                  <p:oleObj name="Worksheet" r:id="rId4" imgW="1819275" imgH="1152565" progId="Excel.Sheet.12">
                    <p:embed/>
                    <p:pic>
                      <p:nvPicPr>
                        <p:cNvPr id="3" name="Object 2">
                          <a:extLst>
                            <a:ext uri="{FF2B5EF4-FFF2-40B4-BE49-F238E27FC236}">
                              <a16:creationId xmlns:a16="http://schemas.microsoft.com/office/drawing/2014/main" id="{80E1C95F-8545-F3E1-F706-31BC7FF7980B}"/>
                            </a:ext>
                          </a:extLst>
                        </p:cNvPr>
                        <p:cNvPicPr/>
                        <p:nvPr/>
                      </p:nvPicPr>
                      <p:blipFill>
                        <a:blip r:embed="rId5"/>
                        <a:stretch>
                          <a:fillRect/>
                        </a:stretch>
                      </p:blipFill>
                      <p:spPr>
                        <a:xfrm>
                          <a:off x="9278028" y="1536941"/>
                          <a:ext cx="2501377" cy="1585200"/>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8E348A4D-1A51-B6A9-5595-662FA30F2FF3}"/>
                </a:ext>
              </a:extLst>
            </p:cNvPr>
            <p:cNvSpPr txBox="1"/>
            <p:nvPr/>
          </p:nvSpPr>
          <p:spPr>
            <a:xfrm>
              <a:off x="9219230" y="3074445"/>
              <a:ext cx="2560176" cy="430887"/>
            </a:xfrm>
            <a:prstGeom prst="rect">
              <a:avLst/>
            </a:prstGeom>
            <a:noFill/>
            <a:ln>
              <a:noFill/>
            </a:ln>
          </p:spPr>
          <p:txBody>
            <a:bodyPr wrap="square" rtlCol="0">
              <a:spAutoFit/>
            </a:bodyPr>
            <a:lstStyle/>
            <a:p>
              <a:r>
                <a:rPr lang="en-PH" sz="1100" i="1"/>
                <a:t>*Based on ERC press statement on May 27, 2022</a:t>
              </a:r>
            </a:p>
          </p:txBody>
        </p:sp>
      </p:grpSp>
      <p:sp>
        <p:nvSpPr>
          <p:cNvPr id="9" name="Speech Bubble: Oval 8">
            <a:extLst>
              <a:ext uri="{FF2B5EF4-FFF2-40B4-BE49-F238E27FC236}">
                <a16:creationId xmlns:a16="http://schemas.microsoft.com/office/drawing/2014/main" id="{BECAB814-47C8-0850-86E9-0B4A131AFD13}"/>
              </a:ext>
            </a:extLst>
          </p:cNvPr>
          <p:cNvSpPr/>
          <p:nvPr/>
        </p:nvSpPr>
        <p:spPr>
          <a:xfrm rot="1919461">
            <a:off x="8749866" y="4415737"/>
            <a:ext cx="1984142" cy="1279774"/>
          </a:xfrm>
          <a:prstGeom prst="wedgeEllipseCallou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FF0000"/>
                </a:solidFill>
              </a:rPr>
              <a:t>93.26% subscription, 18 REs</a:t>
            </a:r>
          </a:p>
        </p:txBody>
      </p:sp>
    </p:spTree>
    <p:extLst>
      <p:ext uri="{BB962C8B-B14F-4D97-AF65-F5344CB8AC3E}">
        <p14:creationId xmlns:p14="http://schemas.microsoft.com/office/powerpoint/2010/main" val="3257679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6">
            <a:extLst>
              <a:ext uri="{FF2B5EF4-FFF2-40B4-BE49-F238E27FC236}">
                <a16:creationId xmlns:a16="http://schemas.microsoft.com/office/drawing/2014/main" id="{BE59F410-05D4-7F5A-1700-72D7D16E6D15}"/>
              </a:ext>
            </a:extLst>
          </p:cNvPr>
          <p:cNvSpPr txBox="1">
            <a:spLocks noChangeArrowheads="1"/>
          </p:cNvSpPr>
          <p:nvPr/>
        </p:nvSpPr>
        <p:spPr bwMode="auto">
          <a:xfrm>
            <a:off x="1645313" y="303037"/>
            <a:ext cx="8359109" cy="1015655"/>
          </a:xfrm>
          <a:prstGeom prst="rect">
            <a:avLst/>
          </a:prstGeom>
          <a:noFill/>
          <a:ln w="9525">
            <a:noFill/>
            <a:miter lim="800000"/>
            <a:headEnd/>
            <a:tailEnd/>
          </a:ln>
          <a:effectLst/>
        </p:spPr>
        <p:txBody>
          <a:bodyPr wrap="square" lIns="91433" tIns="45716" rIns="91433" bIns="45716">
            <a:spAutoFit/>
          </a:bodyPr>
          <a:lstStyle/>
          <a:p>
            <a:pPr algn="ctr" fontAlgn="auto">
              <a:spcBef>
                <a:spcPts val="0"/>
              </a:spcBef>
              <a:spcAft>
                <a:spcPts val="0"/>
              </a:spcAft>
              <a:defRPr/>
            </a:pPr>
            <a:endParaRPr lang="en-US" sz="1200" b="1">
              <a:solidFill>
                <a:schemeClr val="accent1">
                  <a:lumMod val="50000"/>
                </a:schemeClr>
              </a:solidFill>
              <a:latin typeface="Montserrat ExtraBold" panose="00000900000000000000" pitchFamily="2" charset="0"/>
            </a:endParaRPr>
          </a:p>
          <a:p>
            <a:pPr algn="ctr" fontAlgn="auto">
              <a:spcBef>
                <a:spcPts val="0"/>
              </a:spcBef>
              <a:spcAft>
                <a:spcPts val="0"/>
              </a:spcAft>
              <a:defRPr/>
            </a:pPr>
            <a:r>
              <a:rPr lang="en-US" sz="2800" b="1">
                <a:solidFill>
                  <a:schemeClr val="accent1">
                    <a:lumMod val="50000"/>
                  </a:schemeClr>
                </a:solidFill>
                <a:latin typeface="Montserrat ExtraBold" panose="00000900000000000000" pitchFamily="2" charset="0"/>
              </a:rPr>
              <a:t>  GREEN ENERGY AUCTION PROGRAM</a:t>
            </a:r>
            <a:endParaRPr lang="en-US" sz="2800" b="1">
              <a:ln w="17780" cmpd="sng">
                <a:solidFill>
                  <a:schemeClr val="tx1"/>
                </a:solidFill>
                <a:prstDash val="solid"/>
                <a:miter lim="800000"/>
              </a:ln>
              <a:solidFill>
                <a:schemeClr val="accent1">
                  <a:lumMod val="50000"/>
                </a:schemeClr>
              </a:solidFill>
              <a:effectLst>
                <a:outerShdw blurRad="50800" algn="tl" rotWithShape="0">
                  <a:srgbClr val="000000"/>
                </a:outerShdw>
              </a:effectLst>
              <a:latin typeface="Montserrat ExtraBold" panose="00000900000000000000" pitchFamily="2" charset="0"/>
            </a:endParaRPr>
          </a:p>
          <a:p>
            <a:pPr algn="ctr" fontAlgn="auto">
              <a:spcBef>
                <a:spcPts val="0"/>
              </a:spcBef>
              <a:spcAft>
                <a:spcPts val="0"/>
              </a:spcAft>
              <a:defRPr/>
            </a:pPr>
            <a:endParaRPr lang="en-US" sz="2000" b="1">
              <a:ln w="17780" cmpd="sng">
                <a:solidFill>
                  <a:schemeClr val="tx1"/>
                </a:solidFill>
                <a:prstDash val="solid"/>
                <a:miter lim="800000"/>
              </a:ln>
              <a:solidFill>
                <a:schemeClr val="accent1">
                  <a:lumMod val="50000"/>
                </a:schemeClr>
              </a:solidFill>
              <a:effectLst>
                <a:outerShdw blurRad="50800" algn="tl" rotWithShape="0">
                  <a:srgbClr val="000000"/>
                </a:outerShdw>
              </a:effectLst>
              <a:latin typeface="Montserrat ExtraBold" panose="00000900000000000000" pitchFamily="2" charset="0"/>
            </a:endParaRPr>
          </a:p>
        </p:txBody>
      </p:sp>
      <p:sp>
        <p:nvSpPr>
          <p:cNvPr id="10" name="TextBox 9">
            <a:extLst>
              <a:ext uri="{FF2B5EF4-FFF2-40B4-BE49-F238E27FC236}">
                <a16:creationId xmlns:a16="http://schemas.microsoft.com/office/drawing/2014/main" id="{01A0394F-48DB-79D9-16EB-8F24C12D48D3}"/>
              </a:ext>
            </a:extLst>
          </p:cNvPr>
          <p:cNvSpPr txBox="1"/>
          <p:nvPr/>
        </p:nvSpPr>
        <p:spPr>
          <a:xfrm>
            <a:off x="1645313" y="1024981"/>
            <a:ext cx="9572625" cy="1169551"/>
          </a:xfrm>
          <a:prstGeom prst="rect">
            <a:avLst/>
          </a:prstGeom>
          <a:noFill/>
        </p:spPr>
        <p:txBody>
          <a:bodyPr wrap="square">
            <a:spAutoFit/>
          </a:bodyPr>
          <a:lstStyle/>
          <a:p>
            <a:r>
              <a:rPr lang="en-US" sz="1400">
                <a:solidFill>
                  <a:srgbClr val="002060"/>
                </a:solidFill>
                <a:latin typeface="Poppins"/>
              </a:rPr>
              <a:t>Pursuant to Section 4.12 of Department Circular  (DC) No. DC2021-11-0036, titled   “ Providing the Revised Guidelines for the Green Energy Auction Program in the Philippines”,  the Department of Energy (DOE) through the Green Energy Auction Committee (GEAC) invites all Qualified Suppliers to participate in the Second Green Energy Auction (GEA-2) for Renewable Energy (RE). GEA-2 shall cover the Luzon, Visayas, and Mindanao with the following Installation Targets for delivery dates for the years 2024, 2025, 2026:</a:t>
            </a:r>
          </a:p>
        </p:txBody>
      </p:sp>
      <p:sp>
        <p:nvSpPr>
          <p:cNvPr id="2" name="TextBox 1">
            <a:extLst>
              <a:ext uri="{FF2B5EF4-FFF2-40B4-BE49-F238E27FC236}">
                <a16:creationId xmlns:a16="http://schemas.microsoft.com/office/drawing/2014/main" id="{A8905F7C-9E02-42FC-0949-09AA09AF40DF}"/>
              </a:ext>
            </a:extLst>
          </p:cNvPr>
          <p:cNvSpPr txBox="1"/>
          <p:nvPr/>
        </p:nvSpPr>
        <p:spPr>
          <a:xfrm>
            <a:off x="412595" y="949360"/>
            <a:ext cx="1232718" cy="461665"/>
          </a:xfrm>
          <a:prstGeom prst="rect">
            <a:avLst/>
          </a:prstGeom>
          <a:noFill/>
        </p:spPr>
        <p:txBody>
          <a:bodyPr wrap="square" rtlCol="0">
            <a:spAutoFit/>
          </a:bodyPr>
          <a:lstStyle/>
          <a:p>
            <a:pPr algn="ctr"/>
            <a:r>
              <a:rPr lang="en-US" sz="2400" b="1">
                <a:highlight>
                  <a:srgbClr val="FFFF00"/>
                </a:highlight>
              </a:rPr>
              <a:t>GEA-2</a:t>
            </a:r>
          </a:p>
        </p:txBody>
      </p:sp>
      <p:graphicFrame>
        <p:nvGraphicFramePr>
          <p:cNvPr id="3" name="Object 2">
            <a:extLst>
              <a:ext uri="{FF2B5EF4-FFF2-40B4-BE49-F238E27FC236}">
                <a16:creationId xmlns:a16="http://schemas.microsoft.com/office/drawing/2014/main" id="{AC07C853-4042-5F24-E579-7DDBE99E5BC4}"/>
              </a:ext>
            </a:extLst>
          </p:cNvPr>
          <p:cNvGraphicFramePr>
            <a:graphicFrameLocks noChangeAspect="1"/>
          </p:cNvGraphicFramePr>
          <p:nvPr>
            <p:extLst>
              <p:ext uri="{D42A27DB-BD31-4B8C-83A1-F6EECF244321}">
                <p14:modId xmlns:p14="http://schemas.microsoft.com/office/powerpoint/2010/main" val="2665130512"/>
              </p:ext>
            </p:extLst>
          </p:nvPr>
        </p:nvGraphicFramePr>
        <p:xfrm>
          <a:off x="184568" y="2353701"/>
          <a:ext cx="9439275" cy="4229100"/>
        </p:xfrm>
        <a:graphic>
          <a:graphicData uri="http://schemas.openxmlformats.org/presentationml/2006/ole">
            <mc:AlternateContent xmlns:mc="http://schemas.openxmlformats.org/markup-compatibility/2006">
              <mc:Choice xmlns:v="urn:schemas-microsoft-com:vml" Requires="v">
                <p:oleObj name="Worksheet" r:id="rId2" imgW="9439275" imgH="4229221" progId="Excel.Sheet.12">
                  <p:embed/>
                </p:oleObj>
              </mc:Choice>
              <mc:Fallback>
                <p:oleObj name="Worksheet" r:id="rId2" imgW="9439275" imgH="4229221" progId="Excel.Sheet.12">
                  <p:embed/>
                  <p:pic>
                    <p:nvPicPr>
                      <p:cNvPr id="3" name="Object 2">
                        <a:extLst>
                          <a:ext uri="{FF2B5EF4-FFF2-40B4-BE49-F238E27FC236}">
                            <a16:creationId xmlns:a16="http://schemas.microsoft.com/office/drawing/2014/main" id="{AC07C853-4042-5F24-E579-7DDBE99E5BC4}"/>
                          </a:ext>
                        </a:extLst>
                      </p:cNvPr>
                      <p:cNvPicPr/>
                      <p:nvPr/>
                    </p:nvPicPr>
                    <p:blipFill>
                      <a:blip r:embed="rId3"/>
                      <a:stretch>
                        <a:fillRect/>
                      </a:stretch>
                    </p:blipFill>
                    <p:spPr>
                      <a:xfrm>
                        <a:off x="184568" y="2353701"/>
                        <a:ext cx="9439275" cy="4229100"/>
                      </a:xfrm>
                      <a:prstGeom prst="rect">
                        <a:avLst/>
                      </a:prstGeom>
                    </p:spPr>
                  </p:pic>
                </p:oleObj>
              </mc:Fallback>
            </mc:AlternateContent>
          </a:graphicData>
        </a:graphic>
      </p:graphicFrame>
      <p:sp>
        <p:nvSpPr>
          <p:cNvPr id="6" name="Speech Bubble: Oval 5">
            <a:extLst>
              <a:ext uri="{FF2B5EF4-FFF2-40B4-BE49-F238E27FC236}">
                <a16:creationId xmlns:a16="http://schemas.microsoft.com/office/drawing/2014/main" id="{20CED22C-3EBF-A42C-EE73-AFA60F55DC4E}"/>
              </a:ext>
            </a:extLst>
          </p:cNvPr>
          <p:cNvSpPr/>
          <p:nvPr/>
        </p:nvSpPr>
        <p:spPr>
          <a:xfrm rot="1919461">
            <a:off x="9416396" y="5091875"/>
            <a:ext cx="1984142" cy="1279774"/>
          </a:xfrm>
          <a:prstGeom prst="wedgeEllipseCallou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FF0000"/>
                </a:solidFill>
              </a:rPr>
              <a:t>29.66% subscription, 105 REs</a:t>
            </a:r>
          </a:p>
        </p:txBody>
      </p:sp>
      <p:graphicFrame>
        <p:nvGraphicFramePr>
          <p:cNvPr id="8" name="Object 7">
            <a:extLst>
              <a:ext uri="{FF2B5EF4-FFF2-40B4-BE49-F238E27FC236}">
                <a16:creationId xmlns:a16="http://schemas.microsoft.com/office/drawing/2014/main" id="{6ADFBAEB-5F47-AC42-6935-A9C28FAC0025}"/>
              </a:ext>
            </a:extLst>
          </p:cNvPr>
          <p:cNvGraphicFramePr>
            <a:graphicFrameLocks noChangeAspect="1"/>
          </p:cNvGraphicFramePr>
          <p:nvPr>
            <p:extLst>
              <p:ext uri="{D42A27DB-BD31-4B8C-83A1-F6EECF244321}">
                <p14:modId xmlns:p14="http://schemas.microsoft.com/office/powerpoint/2010/main" val="2979009548"/>
              </p:ext>
            </p:extLst>
          </p:nvPr>
        </p:nvGraphicFramePr>
        <p:xfrm>
          <a:off x="9692857" y="2939443"/>
          <a:ext cx="2314575" cy="1724025"/>
        </p:xfrm>
        <a:graphic>
          <a:graphicData uri="http://schemas.openxmlformats.org/presentationml/2006/ole">
            <mc:AlternateContent xmlns:mc="http://schemas.openxmlformats.org/markup-compatibility/2006">
              <mc:Choice xmlns:v="urn:schemas-microsoft-com:vml" Requires="v">
                <p:oleObj name="Worksheet" r:id="rId4" imgW="2314575" imgH="1723944" progId="Excel.Sheet.12">
                  <p:embed/>
                </p:oleObj>
              </mc:Choice>
              <mc:Fallback>
                <p:oleObj name="Worksheet" r:id="rId4" imgW="2314575" imgH="1723944" progId="Excel.Sheet.12">
                  <p:embed/>
                  <p:pic>
                    <p:nvPicPr>
                      <p:cNvPr id="8" name="Object 7">
                        <a:extLst>
                          <a:ext uri="{FF2B5EF4-FFF2-40B4-BE49-F238E27FC236}">
                            <a16:creationId xmlns:a16="http://schemas.microsoft.com/office/drawing/2014/main" id="{6ADFBAEB-5F47-AC42-6935-A9C28FAC0025}"/>
                          </a:ext>
                        </a:extLst>
                      </p:cNvPr>
                      <p:cNvPicPr/>
                      <p:nvPr/>
                    </p:nvPicPr>
                    <p:blipFill>
                      <a:blip r:embed="rId5"/>
                      <a:stretch>
                        <a:fillRect/>
                      </a:stretch>
                    </p:blipFill>
                    <p:spPr>
                      <a:xfrm>
                        <a:off x="9692857" y="2939443"/>
                        <a:ext cx="2314575" cy="1724025"/>
                      </a:xfrm>
                      <a:prstGeom prst="rect">
                        <a:avLst/>
                      </a:prstGeom>
                      <a:ln>
                        <a:solidFill>
                          <a:schemeClr val="accent1"/>
                        </a:solidFill>
                      </a:ln>
                    </p:spPr>
                  </p:pic>
                </p:oleObj>
              </mc:Fallback>
            </mc:AlternateContent>
          </a:graphicData>
        </a:graphic>
      </p:graphicFrame>
    </p:spTree>
    <p:extLst>
      <p:ext uri="{BB962C8B-B14F-4D97-AF65-F5344CB8AC3E}">
        <p14:creationId xmlns:p14="http://schemas.microsoft.com/office/powerpoint/2010/main" val="2336692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28B03AEB-0358-36C5-CE27-250839BC6D49}"/>
              </a:ext>
            </a:extLst>
          </p:cNvPr>
          <p:cNvSpPr txBox="1">
            <a:spLocks/>
          </p:cNvSpPr>
          <p:nvPr/>
        </p:nvSpPr>
        <p:spPr>
          <a:xfrm>
            <a:off x="334112" y="285998"/>
            <a:ext cx="9451298" cy="9690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accent1">
                    <a:lumMod val="50000"/>
                  </a:schemeClr>
                </a:solidFill>
                <a:latin typeface="Montserrat Black" panose="00000A00000000000000" pitchFamily="50" charset="0"/>
                <a:ea typeface="+mj-ea"/>
                <a:cs typeface="+mj-cs"/>
              </a:defRPr>
            </a:lvl1pPr>
          </a:lstStyle>
          <a:p>
            <a:pPr algn="ctr" fontAlgn="auto">
              <a:spcBef>
                <a:spcPts val="0"/>
              </a:spcBef>
              <a:spcAft>
                <a:spcPts val="0"/>
              </a:spcAft>
              <a:defRPr/>
            </a:pPr>
            <a:r>
              <a:rPr lang="en-US" sz="2800" b="1">
                <a:solidFill>
                  <a:schemeClr val="accent1">
                    <a:lumMod val="50000"/>
                  </a:schemeClr>
                </a:solidFill>
                <a:latin typeface="Montserrat ExtraBold" panose="00000900000000000000" pitchFamily="2" charset="0"/>
              </a:rPr>
              <a:t>GREEN ENERGY AUCTION PROGRAM</a:t>
            </a:r>
            <a:endParaRPr lang="en-US" sz="2800" b="1">
              <a:ln w="17780" cmpd="sng">
                <a:solidFill>
                  <a:schemeClr val="tx1"/>
                </a:solidFill>
                <a:prstDash val="solid"/>
                <a:miter lim="800000"/>
              </a:ln>
              <a:solidFill>
                <a:schemeClr val="accent1">
                  <a:lumMod val="50000"/>
                </a:schemeClr>
              </a:solidFill>
              <a:effectLst>
                <a:outerShdw blurRad="50800" algn="tl" rotWithShape="0">
                  <a:srgbClr val="000000"/>
                </a:outerShdw>
              </a:effectLst>
              <a:latin typeface="Montserrat ExtraBold" panose="00000900000000000000" pitchFamily="2" charset="0"/>
            </a:endParaRPr>
          </a:p>
        </p:txBody>
      </p:sp>
      <p:sp>
        <p:nvSpPr>
          <p:cNvPr id="6" name="TextBox 5">
            <a:extLst>
              <a:ext uri="{FF2B5EF4-FFF2-40B4-BE49-F238E27FC236}">
                <a16:creationId xmlns:a16="http://schemas.microsoft.com/office/drawing/2014/main" id="{5277F255-B2D3-FF36-5209-64FC8D30AD2A}"/>
              </a:ext>
            </a:extLst>
          </p:cNvPr>
          <p:cNvSpPr txBox="1"/>
          <p:nvPr/>
        </p:nvSpPr>
        <p:spPr>
          <a:xfrm>
            <a:off x="414435" y="1405705"/>
            <a:ext cx="11156242" cy="1593321"/>
          </a:xfrm>
          <a:prstGeom prst="rect">
            <a:avLst/>
          </a:prstGeom>
          <a:noFill/>
        </p:spPr>
        <p:txBody>
          <a:bodyPr wrap="square" lIns="91440" tIns="45720" rIns="91440" bIns="45720" anchor="t">
            <a:spAutoFit/>
          </a:bodyPr>
          <a:lstStyle/>
          <a:p>
            <a:pPr marL="342900" indent="-342900">
              <a:lnSpc>
                <a:spcPct val="115000"/>
              </a:lnSpc>
              <a:buFont typeface="Arial" panose="020B0604020202020204" pitchFamily="34" charset="0"/>
              <a:buChar char="•"/>
            </a:pPr>
            <a:r>
              <a:rPr lang="en-US" sz="1400" b="1" kern="100">
                <a:solidFill>
                  <a:schemeClr val="tx2"/>
                </a:solidFill>
                <a:latin typeface="Aptos"/>
                <a:ea typeface="Aptos" panose="020B0004020202020204" pitchFamily="34" charset="0"/>
                <a:cs typeface="Times New Roman"/>
              </a:rPr>
              <a:t>The Auction</a:t>
            </a:r>
            <a:r>
              <a:rPr lang="en-US" sz="1400" b="1" kern="100">
                <a:solidFill>
                  <a:schemeClr val="tx2"/>
                </a:solidFill>
                <a:effectLst/>
                <a:latin typeface="Aptos"/>
                <a:ea typeface="Aptos" panose="020B0004020202020204" pitchFamily="34" charset="0"/>
                <a:cs typeface="Times New Roman"/>
              </a:rPr>
              <a:t> Proper was conducted on February 11, 2025</a:t>
            </a:r>
            <a:r>
              <a:rPr lang="en-US" sz="1400" b="1" kern="100">
                <a:solidFill>
                  <a:schemeClr val="tx2"/>
                </a:solidFill>
                <a:latin typeface="Aptos"/>
                <a:ea typeface="Aptos" panose="020B0004020202020204" pitchFamily="34" charset="0"/>
                <a:cs typeface="Times New Roman"/>
              </a:rPr>
              <a:t>. On June 25, 2025, the GEA-BEAC issued Bid Bulletin No. 2 for the GEA-3 Winning Bidders as follows:</a:t>
            </a:r>
            <a:endParaRPr lang="en-US" sz="1400" b="1" kern="100">
              <a:solidFill>
                <a:schemeClr val="tx2"/>
              </a:solidFill>
              <a:effectLst/>
              <a:latin typeface="Aptos"/>
              <a:ea typeface="Aptos" panose="020B0004020202020204" pitchFamily="34" charset="0"/>
              <a:cs typeface="Times New Roman"/>
            </a:endParaRPr>
          </a:p>
          <a:p>
            <a:pPr marL="342900" marR="0" lvl="0" indent="-342900">
              <a:lnSpc>
                <a:spcPct val="115000"/>
              </a:lnSpc>
              <a:buFont typeface="Arial" panose="020B0604020202020204" pitchFamily="34" charset="0"/>
              <a:buChar char="•"/>
            </a:pPr>
            <a:endParaRPr lang="en-US" sz="1400" b="1" kern="100">
              <a:solidFill>
                <a:schemeClr val="tx2"/>
              </a:solidFill>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buFont typeface="Arial" panose="020B0604020202020204" pitchFamily="34" charset="0"/>
              <a:buChar char="•"/>
            </a:pPr>
            <a:endParaRPr lang="en-US" sz="2000" b="1" kern="100">
              <a:solidFill>
                <a:schemeClr val="tx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buFont typeface="Arial" panose="020B0604020202020204" pitchFamily="34" charset="0"/>
              <a:buChar char="•"/>
            </a:pPr>
            <a:endParaRPr lang="en-US" sz="2400" b="1" i="1"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8CF2D901-74D9-0A43-881A-D34E7B4BAC1B}"/>
              </a:ext>
            </a:extLst>
          </p:cNvPr>
          <p:cNvSpPr txBox="1"/>
          <p:nvPr/>
        </p:nvSpPr>
        <p:spPr>
          <a:xfrm>
            <a:off x="412595" y="949360"/>
            <a:ext cx="1232718" cy="461665"/>
          </a:xfrm>
          <a:prstGeom prst="rect">
            <a:avLst/>
          </a:prstGeom>
          <a:noFill/>
        </p:spPr>
        <p:txBody>
          <a:bodyPr wrap="square" rtlCol="0">
            <a:spAutoFit/>
          </a:bodyPr>
          <a:lstStyle/>
          <a:p>
            <a:pPr algn="ctr"/>
            <a:r>
              <a:rPr lang="en-US" sz="2400" b="1">
                <a:highlight>
                  <a:srgbClr val="FFFF00"/>
                </a:highlight>
              </a:rPr>
              <a:t>GEA-3</a:t>
            </a:r>
          </a:p>
        </p:txBody>
      </p:sp>
      <p:pic>
        <p:nvPicPr>
          <p:cNvPr id="3" name="Picture 2" descr="A white sheet with black text&#10;&#10;AI-generated content may be incorrect.">
            <a:extLst>
              <a:ext uri="{FF2B5EF4-FFF2-40B4-BE49-F238E27FC236}">
                <a16:creationId xmlns:a16="http://schemas.microsoft.com/office/drawing/2014/main" id="{97318F73-B2F4-A504-0644-7A4ED9103280}"/>
              </a:ext>
            </a:extLst>
          </p:cNvPr>
          <p:cNvPicPr>
            <a:picLocks noChangeAspect="1"/>
          </p:cNvPicPr>
          <p:nvPr/>
        </p:nvPicPr>
        <p:blipFill>
          <a:blip r:embed="rId2"/>
          <a:stretch>
            <a:fillRect/>
          </a:stretch>
        </p:blipFill>
        <p:spPr>
          <a:xfrm>
            <a:off x="5865159" y="1961870"/>
            <a:ext cx="5410200" cy="1571625"/>
          </a:xfrm>
          <a:prstGeom prst="rect">
            <a:avLst/>
          </a:prstGeom>
        </p:spPr>
      </p:pic>
      <p:pic>
        <p:nvPicPr>
          <p:cNvPr id="9" name="Picture 8">
            <a:extLst>
              <a:ext uri="{FF2B5EF4-FFF2-40B4-BE49-F238E27FC236}">
                <a16:creationId xmlns:a16="http://schemas.microsoft.com/office/drawing/2014/main" id="{A41C9001-1560-5907-6B27-57610C202E88}"/>
              </a:ext>
            </a:extLst>
          </p:cNvPr>
          <p:cNvPicPr>
            <a:picLocks noChangeAspect="1"/>
          </p:cNvPicPr>
          <p:nvPr/>
        </p:nvPicPr>
        <p:blipFill>
          <a:blip r:embed="rId3"/>
          <a:stretch>
            <a:fillRect/>
          </a:stretch>
        </p:blipFill>
        <p:spPr>
          <a:xfrm>
            <a:off x="537882" y="2024063"/>
            <a:ext cx="5325035" cy="4172511"/>
          </a:xfrm>
          <a:prstGeom prst="rect">
            <a:avLst/>
          </a:prstGeom>
        </p:spPr>
      </p:pic>
      <p:pic>
        <p:nvPicPr>
          <p:cNvPr id="10" name="Picture 9" descr="A white and black text on a white background&#10;&#10;AI-generated content may be incorrect.">
            <a:extLst>
              <a:ext uri="{FF2B5EF4-FFF2-40B4-BE49-F238E27FC236}">
                <a16:creationId xmlns:a16="http://schemas.microsoft.com/office/drawing/2014/main" id="{39F1E312-5432-7BBC-D7DE-5902A9494CF5}"/>
              </a:ext>
            </a:extLst>
          </p:cNvPr>
          <p:cNvPicPr>
            <a:picLocks noChangeAspect="1"/>
          </p:cNvPicPr>
          <p:nvPr/>
        </p:nvPicPr>
        <p:blipFill>
          <a:blip r:embed="rId4"/>
          <a:stretch>
            <a:fillRect/>
          </a:stretch>
        </p:blipFill>
        <p:spPr>
          <a:xfrm>
            <a:off x="5828179" y="3715030"/>
            <a:ext cx="5448300" cy="1400175"/>
          </a:xfrm>
          <a:prstGeom prst="rect">
            <a:avLst/>
          </a:prstGeom>
        </p:spPr>
      </p:pic>
    </p:spTree>
    <p:extLst>
      <p:ext uri="{BB962C8B-B14F-4D97-AF65-F5344CB8AC3E}">
        <p14:creationId xmlns:p14="http://schemas.microsoft.com/office/powerpoint/2010/main" val="2151506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06B5D-553E-28F5-BAF8-6B79CF64DD41}"/>
            </a:ext>
          </a:extLst>
        </p:cNvPr>
        <p:cNvGrpSpPr/>
        <p:nvPr/>
      </p:nvGrpSpPr>
      <p:grpSpPr>
        <a:xfrm>
          <a:off x="0" y="0"/>
          <a:ext cx="0" cy="0"/>
          <a:chOff x="0" y="0"/>
          <a:chExt cx="0" cy="0"/>
        </a:xfrm>
      </p:grpSpPr>
      <p:sp>
        <p:nvSpPr>
          <p:cNvPr id="4" name="Title 4">
            <a:extLst>
              <a:ext uri="{FF2B5EF4-FFF2-40B4-BE49-F238E27FC236}">
                <a16:creationId xmlns:a16="http://schemas.microsoft.com/office/drawing/2014/main" id="{5F197096-6B59-2B68-8749-2F7D6C8D9379}"/>
              </a:ext>
            </a:extLst>
          </p:cNvPr>
          <p:cNvSpPr txBox="1">
            <a:spLocks/>
          </p:cNvSpPr>
          <p:nvPr/>
        </p:nvSpPr>
        <p:spPr>
          <a:xfrm>
            <a:off x="334112" y="285998"/>
            <a:ext cx="9451298" cy="9690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accent1">
                    <a:lumMod val="50000"/>
                  </a:schemeClr>
                </a:solidFill>
                <a:latin typeface="Montserrat Black" panose="00000A00000000000000" pitchFamily="50" charset="0"/>
                <a:ea typeface="+mj-ea"/>
                <a:cs typeface="+mj-cs"/>
              </a:defRPr>
            </a:lvl1pPr>
          </a:lstStyle>
          <a:p>
            <a:pPr algn="ctr" fontAlgn="auto">
              <a:spcBef>
                <a:spcPts val="0"/>
              </a:spcBef>
              <a:spcAft>
                <a:spcPts val="0"/>
              </a:spcAft>
              <a:defRPr/>
            </a:pPr>
            <a:r>
              <a:rPr lang="en-US" sz="2800" b="1">
                <a:solidFill>
                  <a:schemeClr val="accent1">
                    <a:lumMod val="50000"/>
                  </a:schemeClr>
                </a:solidFill>
                <a:latin typeface="Montserrat ExtraBold" panose="00000900000000000000" pitchFamily="2" charset="0"/>
              </a:rPr>
              <a:t>GREEN ENERGY AUCTION PROGRAM</a:t>
            </a:r>
            <a:endParaRPr lang="en-US" sz="2800" b="1">
              <a:ln w="17780" cmpd="sng">
                <a:solidFill>
                  <a:schemeClr val="tx1"/>
                </a:solidFill>
                <a:prstDash val="solid"/>
                <a:miter lim="800000"/>
              </a:ln>
              <a:solidFill>
                <a:schemeClr val="accent1">
                  <a:lumMod val="50000"/>
                </a:schemeClr>
              </a:solidFill>
              <a:effectLst>
                <a:outerShdw blurRad="50800" algn="tl" rotWithShape="0">
                  <a:srgbClr val="000000"/>
                </a:outerShdw>
              </a:effectLst>
              <a:latin typeface="Montserrat ExtraBold" panose="00000900000000000000" pitchFamily="2" charset="0"/>
            </a:endParaRPr>
          </a:p>
        </p:txBody>
      </p:sp>
      <p:sp>
        <p:nvSpPr>
          <p:cNvPr id="6" name="TextBox 5">
            <a:extLst>
              <a:ext uri="{FF2B5EF4-FFF2-40B4-BE49-F238E27FC236}">
                <a16:creationId xmlns:a16="http://schemas.microsoft.com/office/drawing/2014/main" id="{C8F6405D-7DD3-B570-2C43-65C77694EC29}"/>
              </a:ext>
            </a:extLst>
          </p:cNvPr>
          <p:cNvSpPr txBox="1"/>
          <p:nvPr/>
        </p:nvSpPr>
        <p:spPr>
          <a:xfrm>
            <a:off x="414435" y="1405705"/>
            <a:ext cx="11156242" cy="1345561"/>
          </a:xfrm>
          <a:prstGeom prst="rect">
            <a:avLst/>
          </a:prstGeom>
          <a:noFill/>
        </p:spPr>
        <p:txBody>
          <a:bodyPr wrap="square" lIns="91440" tIns="45720" rIns="91440" bIns="45720" anchor="t">
            <a:spAutoFit/>
          </a:bodyPr>
          <a:lstStyle/>
          <a:p>
            <a:pPr marL="285750" indent="-285750">
              <a:lnSpc>
                <a:spcPct val="115000"/>
              </a:lnSpc>
              <a:buFont typeface="Arial" panose="020B0604020202020204" pitchFamily="34" charset="0"/>
              <a:buChar char="•"/>
            </a:pPr>
            <a:r>
              <a:rPr lang="en-US" sz="1400" b="1" kern="100">
                <a:solidFill>
                  <a:schemeClr val="tx2"/>
                </a:solidFill>
                <a:latin typeface="Aptos"/>
                <a:ea typeface="Aptos" panose="020B0004020202020204" pitchFamily="34" charset="0"/>
                <a:cs typeface="Times New Roman"/>
              </a:rPr>
              <a:t>On November 6, 2025, the issued the Notice of Award for GEA-4 summarized as follows:</a:t>
            </a:r>
            <a:endParaRPr lang="en-US" sz="1400" b="1" kern="100">
              <a:solidFill>
                <a:schemeClr val="tx2"/>
              </a:solidFill>
              <a:effectLst/>
              <a:latin typeface="Aptos"/>
              <a:ea typeface="Aptos" panose="020B0004020202020204" pitchFamily="34" charset="0"/>
              <a:cs typeface="Times New Roman"/>
            </a:endParaRPr>
          </a:p>
          <a:p>
            <a:pPr marL="342900" marR="0" lvl="0" indent="-342900">
              <a:lnSpc>
                <a:spcPct val="115000"/>
              </a:lnSpc>
              <a:buFont typeface="Arial" panose="020B0604020202020204" pitchFamily="34" charset="0"/>
              <a:buChar char="•"/>
            </a:pPr>
            <a:endParaRPr lang="en-US" sz="1400" b="1" kern="100">
              <a:solidFill>
                <a:schemeClr val="tx2"/>
              </a:solidFill>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buFont typeface="Arial" panose="020B0604020202020204" pitchFamily="34" charset="0"/>
              <a:buChar char="•"/>
            </a:pPr>
            <a:endParaRPr lang="en-US" sz="2000" b="1" kern="100">
              <a:solidFill>
                <a:schemeClr val="tx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buFont typeface="Arial" panose="020B0604020202020204" pitchFamily="34" charset="0"/>
              <a:buChar char="•"/>
            </a:pPr>
            <a:endParaRPr lang="en-US" sz="2400" b="1" i="1"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D1224957-091B-3888-940C-7D76DD79C574}"/>
              </a:ext>
            </a:extLst>
          </p:cNvPr>
          <p:cNvSpPr txBox="1"/>
          <p:nvPr/>
        </p:nvSpPr>
        <p:spPr>
          <a:xfrm>
            <a:off x="412595" y="949360"/>
            <a:ext cx="1232718" cy="461665"/>
          </a:xfrm>
          <a:prstGeom prst="rect">
            <a:avLst/>
          </a:prstGeom>
          <a:noFill/>
        </p:spPr>
        <p:txBody>
          <a:bodyPr wrap="square" rtlCol="0">
            <a:spAutoFit/>
          </a:bodyPr>
          <a:lstStyle/>
          <a:p>
            <a:pPr algn="ctr"/>
            <a:r>
              <a:rPr lang="en-US" sz="2400" b="1">
                <a:highlight>
                  <a:srgbClr val="FFFF00"/>
                </a:highlight>
              </a:rPr>
              <a:t>GEA-4</a:t>
            </a:r>
          </a:p>
        </p:txBody>
      </p:sp>
      <p:pic>
        <p:nvPicPr>
          <p:cNvPr id="17" name="Picture 16">
            <a:extLst>
              <a:ext uri="{FF2B5EF4-FFF2-40B4-BE49-F238E27FC236}">
                <a16:creationId xmlns:a16="http://schemas.microsoft.com/office/drawing/2014/main" id="{3378F320-7236-62E0-D20B-60B43549006A}"/>
              </a:ext>
            </a:extLst>
          </p:cNvPr>
          <p:cNvPicPr>
            <a:picLocks noChangeAspect="1"/>
          </p:cNvPicPr>
          <p:nvPr/>
        </p:nvPicPr>
        <p:blipFill>
          <a:blip r:embed="rId2"/>
          <a:srcRect l="1255" r="13647"/>
          <a:stretch>
            <a:fillRect/>
          </a:stretch>
        </p:blipFill>
        <p:spPr>
          <a:xfrm>
            <a:off x="1492451" y="1716858"/>
            <a:ext cx="9206854" cy="3470014"/>
          </a:xfrm>
          <a:prstGeom prst="rect">
            <a:avLst/>
          </a:prstGeom>
          <a:ln>
            <a:solidFill>
              <a:schemeClr val="tx1"/>
            </a:solidFill>
          </a:ln>
        </p:spPr>
      </p:pic>
    </p:spTree>
    <p:extLst>
      <p:ext uri="{BB962C8B-B14F-4D97-AF65-F5344CB8AC3E}">
        <p14:creationId xmlns:p14="http://schemas.microsoft.com/office/powerpoint/2010/main" val="3539312311"/>
      </p:ext>
    </p:extLst>
  </p:cSld>
  <p:clrMapOvr>
    <a:masterClrMapping/>
  </p:clrMapOvr>
</p:sld>
</file>

<file path=ppt/theme/theme1.xml><?xml version="1.0" encoding="utf-8"?>
<a:theme xmlns:a="http://schemas.openxmlformats.org/drawingml/2006/main" name="TRANSCO FINAL PPT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7C17AC6-3A17-4FD6-9E06-105520508656}" vid="{B7A5A335-4A51-4020-A58F-B6EEBB79EC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TRANSCO FINAL PPT TEMPLATE</Template>
  <TotalTime>33</TotalTime>
  <Words>619</Words>
  <Application>Microsoft Office PowerPoint</Application>
  <PresentationFormat>Widescreen</PresentationFormat>
  <Paragraphs>76</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TRANSCO FINAL PPT TEMPLATE</vt:lpstr>
      <vt:lpstr>PowerPoint Presentation</vt:lpstr>
      <vt:lpstr>RE PLANTS UNDER THE FIT</vt:lpstr>
      <vt:lpstr>PAYMENT TO RE DEVELOPERS After May 5, 2026 Payment Date</vt:lpstr>
      <vt:lpstr>PowerPoint Presentation</vt:lpstr>
      <vt:lpstr>BILLED GENERATION, GWh After May 5, 2026 Payment Date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 PLANTS UNDER THE GEAP (WITH REPA)</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WALDE, SHARINA MARIZ</dc:creator>
  <cp:lastModifiedBy>BERNABE, EUNICE</cp:lastModifiedBy>
  <cp:revision>48</cp:revision>
  <cp:lastPrinted>2023-08-16T00:25:00Z</cp:lastPrinted>
  <dcterms:created xsi:type="dcterms:W3CDTF">2023-01-04T05:33:58Z</dcterms:created>
  <dcterms:modified xsi:type="dcterms:W3CDTF">2026-05-07T08:02:58Z</dcterms:modified>
</cp:coreProperties>
</file>